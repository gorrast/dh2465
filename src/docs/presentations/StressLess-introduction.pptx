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70" r:id="rId4"/>
    <p:sldId id="273"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90"/>
    <p:restoredTop sz="94610"/>
  </p:normalViewPr>
  <p:slideViewPr>
    <p:cSldViewPr snapToGrid="0" snapToObjects="1">
      <p:cViewPr varScale="1">
        <p:scale>
          <a:sx n="132" d="100"/>
          <a:sy n="132" d="100"/>
        </p:scale>
        <p:origin x="176" y="7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kalkylblad.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kalkylblad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sv-SE"/>
  <c:roundedCorners val="1"/>
  <c:style val="2"/>
  <c:chart>
    <c:autoTitleDeleted val="1"/>
    <c:plotArea>
      <c:layout/>
      <c:doughnutChart>
        <c:varyColors val="1"/>
        <c:ser>
          <c:idx val="0"/>
          <c:order val="0"/>
          <c:tx>
            <c:strRef>
              <c:f>Sheet1!$B$1</c:f>
              <c:strCache>
                <c:ptCount val="1"/>
                <c:pt idx="0">
                  <c:v>Sleep score</c:v>
                </c:pt>
              </c:strCache>
            </c:strRef>
          </c:tx>
          <c:spPr>
            <a:solidFill>
              <a:schemeClr val="accent1"/>
            </a:solidFill>
            <a:ln w="9525" cap="flat">
              <a:solidFill>
                <a:srgbClr val="F9F9F9"/>
              </a:solidFill>
              <a:prstDash val="solid"/>
              <a:round/>
            </a:ln>
            <a:effectLst/>
          </c:spPr>
          <c:dPt>
            <c:idx val="0"/>
            <c:bubble3D val="0"/>
            <c:spPr>
              <a:solidFill>
                <a:srgbClr val="FF6B5B"/>
              </a:solidFill>
              <a:ln w="25400" cap="flat">
                <a:solidFill>
                  <a:srgbClr val="2B3161"/>
                </a:solidFill>
                <a:prstDash val="solid"/>
                <a:round/>
              </a:ln>
              <a:effectLst/>
            </c:spPr>
            <c:extLst>
              <c:ext xmlns:c16="http://schemas.microsoft.com/office/drawing/2014/chart" uri="{C3380CC4-5D6E-409C-BE32-E72D297353CC}">
                <c16:uniqueId val="{00000001-078D-AF42-B141-9314CD32A587}"/>
              </c:ext>
            </c:extLst>
          </c:dPt>
          <c:dPt>
            <c:idx val="1"/>
            <c:bubble3D val="0"/>
            <c:spPr>
              <a:solidFill>
                <a:srgbClr val="3B4275"/>
              </a:solidFill>
              <a:ln w="25400" cap="flat">
                <a:solidFill>
                  <a:srgbClr val="2B3161"/>
                </a:solidFill>
                <a:prstDash val="solid"/>
                <a:round/>
              </a:ln>
              <a:effectLst/>
            </c:spPr>
            <c:extLst>
              <c:ext xmlns:c16="http://schemas.microsoft.com/office/drawing/2014/chart" uri="{C3380CC4-5D6E-409C-BE32-E72D297353CC}">
                <c16:uniqueId val="{00000003-078D-AF42-B141-9314CD32A587}"/>
              </c:ext>
            </c:extLst>
          </c:dPt>
          <c:cat>
            <c:strRef>
              <c:f>Sheet1!$A$2:$A$3</c:f>
              <c:strCache>
                <c:ptCount val="2"/>
                <c:pt idx="0">
                  <c:v>Score</c:v>
                </c:pt>
                <c:pt idx="1">
                  <c:v>Rest</c:v>
                </c:pt>
              </c:strCache>
            </c:strRef>
          </c:cat>
          <c:val>
            <c:numRef>
              <c:f>Sheet1!$B$2:$B$3</c:f>
              <c:numCache>
                <c:formatCode>General</c:formatCode>
                <c:ptCount val="2"/>
                <c:pt idx="0">
                  <c:v>68</c:v>
                </c:pt>
                <c:pt idx="1">
                  <c:v>32</c:v>
                </c:pt>
              </c:numCache>
            </c:numRef>
          </c:val>
          <c:extLst>
            <c:ext xmlns:c16="http://schemas.microsoft.com/office/drawing/2014/chart" uri="{C3380CC4-5D6E-409C-BE32-E72D297353CC}">
              <c16:uniqueId val="{00000004-078D-AF42-B141-9314CD32A587}"/>
            </c:ext>
          </c:extLst>
        </c:ser>
        <c:dLbls>
          <c:showLegendKey val="0"/>
          <c:showVal val="0"/>
          <c:showCatName val="0"/>
          <c:showSerName val="0"/>
          <c:showPercent val="0"/>
          <c:showBubbleSize val="0"/>
          <c:showLeaderLines val="0"/>
        </c:dLbls>
        <c:firstSliceAng val="0"/>
        <c:holeSize val="68"/>
      </c:doughnutChart>
      <c:spPr>
        <a:solidFill>
          <a:srgbClr val="2B3161"/>
        </a:solidFill>
        <a:ln>
          <a:noFill/>
        </a:ln>
        <a:effectLst/>
      </c:spPr>
    </c:plotArea>
    <c:plotVisOnly val="1"/>
    <c:dispBlanksAs val="span"/>
    <c:showDLblsOverMax val="1"/>
  </c:chart>
  <c:spPr>
    <a:solidFill>
      <a:srgbClr val="2B3161"/>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sv-SE"/>
  <c:roundedCorners val="1"/>
  <c:style val="2"/>
  <c:chart>
    <c:title>
      <c:tx>
        <c:rich>
          <a:bodyPr/>
          <a:lstStyle/>
          <a:p>
            <a:pPr>
              <a:defRPr sz="1050" b="0" i="0" u="none" strike="noStrike">
                <a:solidFill>
                  <a:srgbClr val="FFFFFF"/>
                </a:solidFill>
                <a:latin typeface="Calibri"/>
              </a:defRPr>
            </a:pPr>
            <a:r>
              <a:rPr lang="sv-SE" sz="1050" b="0" i="0" u="none" strike="noStrike">
                <a:solidFill>
                  <a:srgbClr val="FFFFFF"/>
                </a:solidFill>
                <a:latin typeface="Calibri"/>
              </a:rPr>
              <a:t>Average sleep score by meeting load, last 6 weeks</a:t>
            </a:r>
          </a:p>
        </c:rich>
      </c:tx>
      <c:overlay val="0"/>
    </c:title>
    <c:autoTitleDeleted val="0"/>
    <c:plotArea>
      <c:layout/>
      <c:barChart>
        <c:barDir val="col"/>
        <c:grouping val="clustered"/>
        <c:varyColors val="0"/>
        <c:ser>
          <c:idx val="0"/>
          <c:order val="0"/>
          <c:tx>
            <c:strRef>
              <c:f>Sheet1!$B$1</c:f>
              <c:strCache>
                <c:ptCount val="1"/>
                <c:pt idx="0">
                  <c:v>Sleep score</c:v>
                </c:pt>
              </c:strCache>
            </c:strRef>
          </c:tx>
          <c:spPr>
            <a:solidFill>
              <a:srgbClr val="FF6B5B"/>
            </a:solidFill>
            <a:effectLst/>
          </c:spPr>
          <c:invertIfNegative val="0"/>
          <c:dLbls>
            <c:numFmt formatCode="0" sourceLinked="0"/>
            <c:spPr>
              <a:noFill/>
              <a:ln>
                <a:noFill/>
              </a:ln>
              <a:effectLst/>
            </c:spPr>
            <c:txPr>
              <a:bodyPr/>
              <a:lstStyle/>
              <a:p>
                <a:pPr>
                  <a:defRPr sz="1100" b="0" i="0" u="none" strike="noStrike">
                    <a:solidFill>
                      <a:srgbClr val="FFFFFF"/>
                    </a:solidFill>
                    <a:latin typeface="Calibri"/>
                  </a:defRPr>
                </a:pPr>
                <a:endParaRPr lang="sv-S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0 to 2 meetings</c:v>
                </c:pt>
                <c:pt idx="1">
                  <c:v>3 to 4 meetings</c:v>
                </c:pt>
                <c:pt idx="2">
                  <c:v>5+ meetings</c:v>
                </c:pt>
              </c:strCache>
            </c:strRef>
          </c:cat>
          <c:val>
            <c:numRef>
              <c:f>Sheet1!$B$2:$B$4</c:f>
              <c:numCache>
                <c:formatCode>General</c:formatCode>
                <c:ptCount val="3"/>
                <c:pt idx="0">
                  <c:v>82</c:v>
                </c:pt>
                <c:pt idx="1">
                  <c:v>76</c:v>
                </c:pt>
                <c:pt idx="2">
                  <c:v>68</c:v>
                </c:pt>
              </c:numCache>
            </c:numRef>
          </c:val>
          <c:extLst>
            <c:ext xmlns:c16="http://schemas.microsoft.com/office/drawing/2014/chart" uri="{C3380CC4-5D6E-409C-BE32-E72D297353CC}">
              <c16:uniqueId val="{00000000-10FD-E441-9692-7BE85CA2971C}"/>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AEB4EE"/>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3B427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AEB4EE"/>
                </a:solidFill>
                <a:latin typeface="Calibri"/>
              </a:defRPr>
            </a:pPr>
            <a:endParaRPr lang="en-US"/>
          </a:p>
        </c:txPr>
        <c:crossAx val="2094734554"/>
        <c:crosses val="autoZero"/>
        <c:crossBetween val="between"/>
        <c:majorUnit val="25"/>
      </c:valAx>
      <c:spPr>
        <a:solidFill>
          <a:srgbClr val="2B3161"/>
        </a:solidFill>
        <a:ln>
          <a:noFill/>
        </a:ln>
        <a:effectLst/>
      </c:spPr>
    </c:plotArea>
    <c:plotVisOnly val="1"/>
    <c:dispBlanksAs val="span"/>
    <c:showDLblsOverMax val="1"/>
  </c:chart>
  <c:spPr>
    <a:solidFill>
      <a:srgbClr val="2B3161"/>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8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One sentence: your calendar knows what you did, your watch knows how your body responded, nobody connects the two. That is what we want to build. Total pitch target: 5 minutes, then the rest of the slot is for your reactions.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number: 45 percent of adults in Sweden report sleep problems in the Public Health Agency's 2024 national survey, mostly mild. The point is not that people lack data. Wearables hand us a score every morning. What is missing is the explanation, and that already sits in the calendar.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Two data sources the user already has, connected with their permission. Stress that it is not only heart rate: HRV, sleep stages, respiration, temperature, activity, whatever HealthKit exposes. No new hardware and no journaling. Why now: Apple added a native Sleep Score in watchOS 26, so the score exists, the explanation does not.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Left: signals we can compute from an ordinary calendar without reading meeting content. Right: everything the watch already measures, not only pulse. We start with the sleep score as the outcome because it is one clear number every morning, then widen to recovery markers like overnight HRV.</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Two surfaces. The morning report answers why the night went the way it did, with three causes and one suggestion that lands in the calendar. The weekly insight shows the pattern over time. Say clearly that every number here is invented to show the format.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Honest status: we are at the idea stage. Say what is done, what the next four weeks look like, and the challenges we already see. Then invite the room to add to the challenge list. Adjust this slide to the team's actual status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247"/>
        </a:solidFill>
        <a:effectLst/>
      </p:bgPr>
    </p:bg>
    <p:spTree>
      <p:nvGrpSpPr>
        <p:cNvPr id="1" name=""/>
        <p:cNvGrpSpPr/>
        <p:nvPr/>
      </p:nvGrpSpPr>
      <p:grpSpPr>
        <a:xfrm>
          <a:off x="0" y="0"/>
          <a:ext cx="0" cy="0"/>
          <a:chOff x="0" y="0"/>
          <a:chExt cx="0" cy="0"/>
        </a:xfrm>
      </p:grpSpPr>
      <p:sp>
        <p:nvSpPr>
          <p:cNvPr id="3" name="Text 1"/>
          <p:cNvSpPr txBox="1"/>
          <p:nvPr/>
        </p:nvSpPr>
        <p:spPr>
          <a:xfrm>
            <a:off x="548640" y="1234440"/>
            <a:ext cx="5486400" cy="1005840"/>
          </a:xfrm>
          <a:prstGeom prst="rect">
            <a:avLst/>
          </a:prstGeom>
          <a:noFill/>
          <a:ln/>
        </p:spPr>
        <p:txBody>
          <a:bodyPr wrap="square" lIns="0" tIns="0" rIns="0" bIns="0" rtlCol="0" anchor="t"/>
          <a:lstStyle/>
          <a:p>
            <a:pPr marL="0" indent="0">
              <a:buNone/>
            </a:pPr>
            <a:r>
              <a:rPr lang="en-US" sz="6600" b="1" dirty="0" err="1">
                <a:solidFill>
                  <a:srgbClr val="FFFFFF"/>
                </a:solidFill>
                <a:latin typeface="Calibri" pitchFamily="34" charset="0"/>
                <a:ea typeface="Calibri" pitchFamily="34" charset="-122"/>
                <a:cs typeface="Calibri" pitchFamily="34" charset="-120"/>
              </a:rPr>
              <a:t>StressLess</a:t>
            </a:r>
            <a:r>
              <a:rPr lang="en-US" sz="6600" b="1" dirty="0">
                <a:solidFill>
                  <a:srgbClr val="FFFFFF"/>
                </a:solidFill>
                <a:latin typeface="Calibri" pitchFamily="34" charset="0"/>
                <a:ea typeface="Calibri" pitchFamily="34" charset="-122"/>
                <a:cs typeface="Calibri" pitchFamily="34" charset="-120"/>
              </a:rPr>
              <a:t> </a:t>
            </a:r>
            <a:endParaRPr lang="en-US" sz="6600" dirty="0"/>
          </a:p>
        </p:txBody>
      </p:sp>
      <p:sp>
        <p:nvSpPr>
          <p:cNvPr id="4" name="Text 2"/>
          <p:cNvSpPr txBox="1"/>
          <p:nvPr/>
        </p:nvSpPr>
        <p:spPr>
          <a:xfrm>
            <a:off x="548640" y="2286000"/>
            <a:ext cx="6949440" cy="914400"/>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A wearables app that connects Google Calendar to the biometric data your watch already collects, to show what in your day is shaping your body and your sleep</a:t>
            </a:r>
            <a:endParaRPr lang="en-US" sz="1800" dirty="0"/>
          </a:p>
        </p:txBody>
      </p:sp>
      <p:pic>
        <p:nvPicPr>
          <p:cNvPr id="6" name="Image 0" descr="preencoded.png"/>
          <p:cNvPicPr>
            <a:picLocks noChangeAspect="1"/>
          </p:cNvPicPr>
          <p:nvPr/>
        </p:nvPicPr>
        <p:blipFill>
          <a:blip r:embed="rId3"/>
          <a:stretch>
            <a:fillRect/>
          </a:stretch>
        </p:blipFill>
        <p:spPr>
          <a:xfrm>
            <a:off x="548640" y="3474720"/>
            <a:ext cx="8046720" cy="12070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84048"/>
            <a:ext cx="8229600" cy="777240"/>
          </a:xfrm>
          <a:prstGeom prst="rect">
            <a:avLst/>
          </a:prstGeom>
          <a:noFill/>
          <a:ln/>
        </p:spPr>
        <p:txBody>
          <a:bodyPr wrap="square" lIns="0" tIns="0" rIns="0" bIns="0" rtlCol="0" anchor="t"/>
          <a:lstStyle/>
          <a:p>
            <a:pPr marL="0" indent="0">
              <a:buNone/>
            </a:pPr>
            <a:r>
              <a:rPr lang="en-US" sz="3000" b="1" dirty="0">
                <a:solidFill>
                  <a:srgbClr val="1D2247"/>
                </a:solidFill>
                <a:latin typeface="Calibri" pitchFamily="34" charset="0"/>
                <a:ea typeface="Calibri" pitchFamily="34" charset="-122"/>
                <a:cs typeface="Calibri" pitchFamily="34" charset="-120"/>
              </a:rPr>
              <a:t>Wearables give you a score. They don't tell you why.</a:t>
            </a:r>
            <a:endParaRPr lang="en-US" sz="3000" dirty="0"/>
          </a:p>
        </p:txBody>
      </p:sp>
      <p:sp>
        <p:nvSpPr>
          <p:cNvPr id="3" name="Shape 1"/>
          <p:cNvSpPr/>
          <p:nvPr/>
        </p:nvSpPr>
        <p:spPr>
          <a:xfrm>
            <a:off x="457200" y="1325880"/>
            <a:ext cx="3200400" cy="3291840"/>
          </a:xfrm>
          <a:prstGeom prst="roundRect">
            <a:avLst>
              <a:gd name="adj" fmla="val 2857"/>
            </a:avLst>
          </a:prstGeom>
          <a:solidFill>
            <a:srgbClr val="F1F2FA"/>
          </a:solidFill>
          <a:ln w="12700">
            <a:solidFill>
              <a:srgbClr val="F1F2FA"/>
            </a:solidFill>
            <a:prstDash val="solid"/>
          </a:ln>
        </p:spPr>
        <p:txBody>
          <a:bodyPr/>
          <a:lstStyle/>
          <a:p>
            <a:endParaRPr lang="sv-SE"/>
          </a:p>
        </p:txBody>
      </p:sp>
      <p:sp>
        <p:nvSpPr>
          <p:cNvPr id="4" name="Text 2"/>
          <p:cNvSpPr txBox="1"/>
          <p:nvPr/>
        </p:nvSpPr>
        <p:spPr>
          <a:xfrm>
            <a:off x="731520" y="1554480"/>
            <a:ext cx="2743200" cy="1005840"/>
          </a:xfrm>
          <a:prstGeom prst="rect">
            <a:avLst/>
          </a:prstGeom>
          <a:noFill/>
          <a:ln/>
        </p:spPr>
        <p:txBody>
          <a:bodyPr wrap="square" lIns="0" tIns="0" rIns="0" bIns="0" rtlCol="0" anchor="ctr"/>
          <a:lstStyle/>
          <a:p>
            <a:pPr marL="0" indent="0">
              <a:buNone/>
            </a:pPr>
            <a:r>
              <a:rPr lang="en-US" sz="6400" b="1" dirty="0">
                <a:solidFill>
                  <a:srgbClr val="FF6B5B"/>
                </a:solidFill>
                <a:latin typeface="Calibri" pitchFamily="34" charset="0"/>
                <a:ea typeface="Calibri" pitchFamily="34" charset="-122"/>
                <a:cs typeface="Calibri" pitchFamily="34" charset="-120"/>
              </a:rPr>
              <a:t>45 %</a:t>
            </a:r>
            <a:endParaRPr lang="en-US" sz="6400" dirty="0"/>
          </a:p>
        </p:txBody>
      </p:sp>
      <p:sp>
        <p:nvSpPr>
          <p:cNvPr id="5" name="Text 3"/>
          <p:cNvSpPr txBox="1"/>
          <p:nvPr/>
        </p:nvSpPr>
        <p:spPr>
          <a:xfrm>
            <a:off x="731520" y="2651760"/>
            <a:ext cx="2697480" cy="731520"/>
          </a:xfrm>
          <a:prstGeom prst="rect">
            <a:avLst/>
          </a:prstGeom>
          <a:noFill/>
          <a:ln/>
        </p:spPr>
        <p:txBody>
          <a:bodyPr wrap="square" lIns="0" tIns="0" rIns="0" bIns="0" rtlCol="0" anchor="t"/>
          <a:lstStyle/>
          <a:p>
            <a:pPr marL="0" indent="0">
              <a:buNone/>
            </a:pPr>
            <a:r>
              <a:rPr lang="en-US" sz="1500" dirty="0">
                <a:solidFill>
                  <a:srgbClr val="1D2247"/>
                </a:solidFill>
                <a:latin typeface="Calibri" pitchFamily="34" charset="0"/>
                <a:ea typeface="Calibri" pitchFamily="34" charset="-122"/>
                <a:cs typeface="Calibri" pitchFamily="34" charset="-120"/>
              </a:rPr>
              <a:t>of adults in Sweden report sleep problems</a:t>
            </a:r>
            <a:endParaRPr lang="en-US" sz="1500" dirty="0"/>
          </a:p>
        </p:txBody>
      </p:sp>
      <p:sp>
        <p:nvSpPr>
          <p:cNvPr id="6" name="Text 4"/>
          <p:cNvSpPr txBox="1"/>
          <p:nvPr/>
        </p:nvSpPr>
        <p:spPr>
          <a:xfrm>
            <a:off x="731520" y="3429000"/>
            <a:ext cx="2697480" cy="1005840"/>
          </a:xfrm>
          <a:prstGeom prst="rect">
            <a:avLst/>
          </a:prstGeom>
          <a:noFill/>
          <a:ln/>
        </p:spPr>
        <p:txBody>
          <a:bodyPr wrap="square" lIns="0" tIns="0" rIns="0" bIns="0" rtlCol="0" anchor="t"/>
          <a:lstStyle/>
          <a:p>
            <a:pPr marL="0" indent="0">
              <a:buNone/>
            </a:pPr>
            <a:r>
              <a:rPr lang="en-US" sz="950" dirty="0">
                <a:solidFill>
                  <a:srgbClr val="6E7291"/>
                </a:solidFill>
                <a:latin typeface="Calibri" pitchFamily="34" charset="0"/>
                <a:ea typeface="Calibri" pitchFamily="34" charset="-122"/>
                <a:cs typeface="Calibri" pitchFamily="34" charset="-120"/>
              </a:rPr>
              <a:t>Public Health Agency of Sweden (Folkhälsomyndigheten), National Public Health Survey 2024. Most report mild problems, but it is almost every second adult.</a:t>
            </a:r>
            <a:endParaRPr lang="en-US" sz="950" dirty="0"/>
          </a:p>
        </p:txBody>
      </p:sp>
      <p:sp>
        <p:nvSpPr>
          <p:cNvPr id="7" name="Shape 5"/>
          <p:cNvSpPr/>
          <p:nvPr/>
        </p:nvSpPr>
        <p:spPr>
          <a:xfrm>
            <a:off x="4023360" y="1371600"/>
            <a:ext cx="457200" cy="457200"/>
          </a:xfrm>
          <a:prstGeom prst="ellipse">
            <a:avLst/>
          </a:prstGeom>
          <a:solidFill>
            <a:srgbClr val="FFE3DE"/>
          </a:solidFill>
          <a:ln w="12700">
            <a:solidFill>
              <a:srgbClr val="FFE3DE"/>
            </a:solidFill>
            <a:prstDash val="solid"/>
          </a:ln>
        </p:spPr>
        <p:txBody>
          <a:bodyPr/>
          <a:lstStyle/>
          <a:p>
            <a:endParaRPr lang="sv-SE"/>
          </a:p>
        </p:txBody>
      </p:sp>
      <p:pic>
        <p:nvPicPr>
          <p:cNvPr id="8" name="Image 0" descr="preencoded.png"/>
          <p:cNvPicPr>
            <a:picLocks noChangeAspect="1"/>
          </p:cNvPicPr>
          <p:nvPr/>
        </p:nvPicPr>
        <p:blipFill>
          <a:blip r:embed="rId3"/>
          <a:stretch>
            <a:fillRect/>
          </a:stretch>
        </p:blipFill>
        <p:spPr>
          <a:xfrm>
            <a:off x="4133088" y="1481328"/>
            <a:ext cx="237744" cy="237744"/>
          </a:xfrm>
          <a:prstGeom prst="rect">
            <a:avLst/>
          </a:prstGeom>
        </p:spPr>
      </p:pic>
      <p:sp>
        <p:nvSpPr>
          <p:cNvPr id="9" name="Text 6"/>
          <p:cNvSpPr txBox="1"/>
          <p:nvPr/>
        </p:nvSpPr>
        <p:spPr>
          <a:xfrm>
            <a:off x="4663440" y="1353312"/>
            <a:ext cx="4023360" cy="320040"/>
          </a:xfrm>
          <a:prstGeom prst="rect">
            <a:avLst/>
          </a:prstGeom>
          <a:noFill/>
          <a:ln/>
        </p:spPr>
        <p:txBody>
          <a:bodyPr wrap="square" lIns="0" tIns="0" rIns="0" bIns="0" rtlCol="0" anchor="t"/>
          <a:lstStyle/>
          <a:p>
            <a:pPr marL="0" indent="0">
              <a:buNone/>
            </a:pPr>
            <a:r>
              <a:rPr lang="en-US" sz="1500" b="1" dirty="0">
                <a:solidFill>
                  <a:srgbClr val="1D2247"/>
                </a:solidFill>
                <a:latin typeface="Calibri" pitchFamily="34" charset="0"/>
                <a:ea typeface="Calibri" pitchFamily="34" charset="-122"/>
                <a:cs typeface="Calibri" pitchFamily="34" charset="-120"/>
              </a:rPr>
              <a:t>A score without an explanation</a:t>
            </a:r>
            <a:endParaRPr lang="en-US" sz="1500" dirty="0"/>
          </a:p>
        </p:txBody>
      </p:sp>
      <p:sp>
        <p:nvSpPr>
          <p:cNvPr id="10" name="Text 7"/>
          <p:cNvSpPr txBox="1"/>
          <p:nvPr/>
        </p:nvSpPr>
        <p:spPr>
          <a:xfrm>
            <a:off x="4663440" y="1700784"/>
            <a:ext cx="4023360" cy="685800"/>
          </a:xfrm>
          <a:prstGeom prst="rect">
            <a:avLst/>
          </a:prstGeom>
          <a:noFill/>
          <a:ln/>
        </p:spPr>
        <p:txBody>
          <a:bodyPr wrap="square" lIns="0" tIns="0" rIns="0" bIns="0" rtlCol="0" anchor="t"/>
          <a:lstStyle/>
          <a:p>
            <a:pPr marL="0" indent="0">
              <a:buNone/>
            </a:pPr>
            <a:r>
              <a:rPr lang="en-US" sz="1200" dirty="0">
                <a:solidFill>
                  <a:srgbClr val="1D2247"/>
                </a:solidFill>
                <a:latin typeface="Calibri" pitchFamily="34" charset="0"/>
                <a:ea typeface="Calibri" pitchFamily="34" charset="-122"/>
                <a:cs typeface="Calibri" pitchFamily="34" charset="-120"/>
              </a:rPr>
              <a:t>Sleep score 62 this morning. Why? The watch knows how the night went, not what happened yesterday.</a:t>
            </a:r>
            <a:endParaRPr lang="en-US" sz="1200" dirty="0"/>
          </a:p>
        </p:txBody>
      </p:sp>
      <p:sp>
        <p:nvSpPr>
          <p:cNvPr id="11" name="Shape 8"/>
          <p:cNvSpPr/>
          <p:nvPr/>
        </p:nvSpPr>
        <p:spPr>
          <a:xfrm>
            <a:off x="4023360" y="2487168"/>
            <a:ext cx="457200" cy="457200"/>
          </a:xfrm>
          <a:prstGeom prst="ellipse">
            <a:avLst/>
          </a:prstGeom>
          <a:solidFill>
            <a:srgbClr val="FFE3DE"/>
          </a:solidFill>
          <a:ln w="12700">
            <a:solidFill>
              <a:srgbClr val="FFE3DE"/>
            </a:solidFill>
            <a:prstDash val="solid"/>
          </a:ln>
        </p:spPr>
        <p:txBody>
          <a:bodyPr/>
          <a:lstStyle/>
          <a:p>
            <a:endParaRPr lang="sv-SE"/>
          </a:p>
        </p:txBody>
      </p:sp>
      <p:pic>
        <p:nvPicPr>
          <p:cNvPr id="12" name="Image 1" descr="preencoded.png"/>
          <p:cNvPicPr>
            <a:picLocks noChangeAspect="1"/>
          </p:cNvPicPr>
          <p:nvPr/>
        </p:nvPicPr>
        <p:blipFill>
          <a:blip r:embed="rId4"/>
          <a:stretch>
            <a:fillRect/>
          </a:stretch>
        </p:blipFill>
        <p:spPr>
          <a:xfrm>
            <a:off x="4133088" y="2596896"/>
            <a:ext cx="237744" cy="237744"/>
          </a:xfrm>
          <a:prstGeom prst="rect">
            <a:avLst/>
          </a:prstGeom>
        </p:spPr>
      </p:pic>
      <p:sp>
        <p:nvSpPr>
          <p:cNvPr id="13" name="Text 9"/>
          <p:cNvSpPr txBox="1"/>
          <p:nvPr/>
        </p:nvSpPr>
        <p:spPr>
          <a:xfrm>
            <a:off x="4663440" y="2468880"/>
            <a:ext cx="4023360" cy="320040"/>
          </a:xfrm>
          <a:prstGeom prst="rect">
            <a:avLst/>
          </a:prstGeom>
          <a:noFill/>
          <a:ln/>
        </p:spPr>
        <p:txBody>
          <a:bodyPr wrap="square" lIns="0" tIns="0" rIns="0" bIns="0" rtlCol="0" anchor="t"/>
          <a:lstStyle/>
          <a:p>
            <a:pPr marL="0" indent="0">
              <a:buNone/>
            </a:pPr>
            <a:r>
              <a:rPr lang="en-US" sz="1500" b="1" dirty="0">
                <a:solidFill>
                  <a:srgbClr val="1D2247"/>
                </a:solidFill>
                <a:latin typeface="Calibri" pitchFamily="34" charset="0"/>
                <a:ea typeface="Calibri" pitchFamily="34" charset="-122"/>
                <a:cs typeface="Calibri" pitchFamily="34" charset="-120"/>
              </a:rPr>
              <a:t>Manual journaling doesn't stick</a:t>
            </a:r>
            <a:endParaRPr lang="en-US" sz="1500" dirty="0"/>
          </a:p>
        </p:txBody>
      </p:sp>
      <p:sp>
        <p:nvSpPr>
          <p:cNvPr id="14" name="Text 10"/>
          <p:cNvSpPr txBox="1"/>
          <p:nvPr/>
        </p:nvSpPr>
        <p:spPr>
          <a:xfrm>
            <a:off x="4663440" y="2816352"/>
            <a:ext cx="4023360" cy="685800"/>
          </a:xfrm>
          <a:prstGeom prst="rect">
            <a:avLst/>
          </a:prstGeom>
          <a:noFill/>
          <a:ln/>
        </p:spPr>
        <p:txBody>
          <a:bodyPr wrap="square" lIns="0" tIns="0" rIns="0" bIns="0" rtlCol="0" anchor="t"/>
          <a:lstStyle/>
          <a:p>
            <a:pPr marL="0" indent="0">
              <a:buNone/>
            </a:pPr>
            <a:r>
              <a:rPr lang="en-US" sz="1200" dirty="0">
                <a:solidFill>
                  <a:srgbClr val="1D2247"/>
                </a:solidFill>
                <a:latin typeface="Calibri" pitchFamily="34" charset="0"/>
                <a:ea typeface="Calibri" pitchFamily="34" charset="-122"/>
                <a:cs typeface="Calibri" pitchFamily="34" charset="-120"/>
              </a:rPr>
              <a:t>Whoop Journal and Oura tags rely on you filling things in every day. That friction is exactly why people stop.</a:t>
            </a:r>
            <a:endParaRPr lang="en-US" sz="1200" dirty="0"/>
          </a:p>
        </p:txBody>
      </p:sp>
      <p:sp>
        <p:nvSpPr>
          <p:cNvPr id="15" name="Shape 11"/>
          <p:cNvSpPr/>
          <p:nvPr/>
        </p:nvSpPr>
        <p:spPr>
          <a:xfrm>
            <a:off x="4023360" y="3602736"/>
            <a:ext cx="457200" cy="457200"/>
          </a:xfrm>
          <a:prstGeom prst="ellipse">
            <a:avLst/>
          </a:prstGeom>
          <a:solidFill>
            <a:srgbClr val="FFE3DE"/>
          </a:solidFill>
          <a:ln w="12700">
            <a:solidFill>
              <a:srgbClr val="FFE3DE"/>
            </a:solidFill>
            <a:prstDash val="solid"/>
          </a:ln>
        </p:spPr>
        <p:txBody>
          <a:bodyPr/>
          <a:lstStyle/>
          <a:p>
            <a:endParaRPr lang="sv-SE"/>
          </a:p>
        </p:txBody>
      </p:sp>
      <p:pic>
        <p:nvPicPr>
          <p:cNvPr id="16" name="Image 2" descr="preencoded.png"/>
          <p:cNvPicPr>
            <a:picLocks noChangeAspect="1"/>
          </p:cNvPicPr>
          <p:nvPr/>
        </p:nvPicPr>
        <p:blipFill>
          <a:blip r:embed="rId5"/>
          <a:stretch>
            <a:fillRect/>
          </a:stretch>
        </p:blipFill>
        <p:spPr>
          <a:xfrm>
            <a:off x="4133088" y="3712464"/>
            <a:ext cx="237744" cy="237744"/>
          </a:xfrm>
          <a:prstGeom prst="rect">
            <a:avLst/>
          </a:prstGeom>
        </p:spPr>
      </p:pic>
      <p:sp>
        <p:nvSpPr>
          <p:cNvPr id="17" name="Text 12"/>
          <p:cNvSpPr txBox="1"/>
          <p:nvPr/>
        </p:nvSpPr>
        <p:spPr>
          <a:xfrm>
            <a:off x="4663440" y="3584448"/>
            <a:ext cx="4023360" cy="320040"/>
          </a:xfrm>
          <a:prstGeom prst="rect">
            <a:avLst/>
          </a:prstGeom>
          <a:noFill/>
          <a:ln/>
        </p:spPr>
        <p:txBody>
          <a:bodyPr wrap="square" lIns="0" tIns="0" rIns="0" bIns="0" rtlCol="0" anchor="t"/>
          <a:lstStyle/>
          <a:p>
            <a:pPr marL="0" indent="0">
              <a:buNone/>
            </a:pPr>
            <a:r>
              <a:rPr lang="en-US" sz="1500" b="1" dirty="0">
                <a:solidFill>
                  <a:srgbClr val="1D2247"/>
                </a:solidFill>
                <a:latin typeface="Calibri" pitchFamily="34" charset="0"/>
                <a:ea typeface="Calibri" pitchFamily="34" charset="-122"/>
                <a:cs typeface="Calibri" pitchFamily="34" charset="-120"/>
              </a:rPr>
              <a:t>The context already exists, in your calendar</a:t>
            </a:r>
            <a:endParaRPr lang="en-US" sz="1500" dirty="0"/>
          </a:p>
        </p:txBody>
      </p:sp>
      <p:sp>
        <p:nvSpPr>
          <p:cNvPr id="18" name="Text 13"/>
          <p:cNvSpPr txBox="1"/>
          <p:nvPr/>
        </p:nvSpPr>
        <p:spPr>
          <a:xfrm>
            <a:off x="4663440" y="3931920"/>
            <a:ext cx="4023360" cy="685800"/>
          </a:xfrm>
          <a:prstGeom prst="rect">
            <a:avLst/>
          </a:prstGeom>
          <a:noFill/>
          <a:ln/>
        </p:spPr>
        <p:txBody>
          <a:bodyPr wrap="square" lIns="0" tIns="0" rIns="0" bIns="0" rtlCol="0" anchor="t"/>
          <a:lstStyle/>
          <a:p>
            <a:pPr marL="0" indent="0">
              <a:buNone/>
            </a:pPr>
            <a:r>
              <a:rPr lang="en-US" sz="1200" dirty="0">
                <a:solidFill>
                  <a:srgbClr val="1D2247"/>
                </a:solidFill>
                <a:latin typeface="Calibri" pitchFamily="34" charset="0"/>
                <a:ea typeface="Calibri" pitchFamily="34" charset="-122"/>
                <a:cs typeface="Calibri" pitchFamily="34" charset="-120"/>
              </a:rPr>
              <a:t>Meetings, workouts, travel and late dinners are already there with timestamps. Nobody uses them to explain the night.</a:t>
            </a:r>
            <a:endParaRPr lang="en-US" sz="1200" dirty="0"/>
          </a:p>
        </p:txBody>
      </p:sp>
      <p:sp>
        <p:nvSpPr>
          <p:cNvPr id="20" name="Text 15"/>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6E729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84048"/>
            <a:ext cx="8229600" cy="777240"/>
          </a:xfrm>
          <a:prstGeom prst="rect">
            <a:avLst/>
          </a:prstGeom>
          <a:noFill/>
          <a:ln/>
        </p:spPr>
        <p:txBody>
          <a:bodyPr wrap="square" lIns="0" tIns="0" rIns="0" bIns="0" rtlCol="0" anchor="t"/>
          <a:lstStyle/>
          <a:p>
            <a:pPr marL="0" indent="0">
              <a:buNone/>
            </a:pPr>
            <a:r>
              <a:rPr lang="en-US" sz="3000" b="1" dirty="0">
                <a:solidFill>
                  <a:srgbClr val="1D2247"/>
                </a:solidFill>
                <a:latin typeface="Calibri" pitchFamily="34" charset="0"/>
                <a:ea typeface="Calibri" pitchFamily="34" charset="-122"/>
                <a:cs typeface="Calibri" pitchFamily="34" charset="-120"/>
              </a:rPr>
              <a:t>The idea: let your calendar explain your body</a:t>
            </a:r>
            <a:endParaRPr lang="en-US" sz="3000" dirty="0"/>
          </a:p>
        </p:txBody>
      </p:sp>
      <p:sp>
        <p:nvSpPr>
          <p:cNvPr id="3" name="Text 1"/>
          <p:cNvSpPr txBox="1"/>
          <p:nvPr/>
        </p:nvSpPr>
        <p:spPr>
          <a:xfrm>
            <a:off x="457200" y="1234440"/>
            <a:ext cx="4206240" cy="1420000"/>
          </a:xfrm>
          <a:prstGeom prst="rect">
            <a:avLst/>
          </a:prstGeom>
          <a:noFill/>
          <a:ln/>
        </p:spPr>
        <p:txBody>
          <a:bodyPr wrap="square" lIns="0" tIns="0" rIns="0" bIns="0" rtlCol="0" anchor="t"/>
          <a:lstStyle/>
          <a:p>
            <a:pPr marL="0" indent="0">
              <a:buNone/>
            </a:pPr>
            <a:r>
              <a:rPr lang="en-US" sz="1400" dirty="0" err="1">
                <a:solidFill>
                  <a:srgbClr val="1D2247"/>
                </a:solidFill>
                <a:latin typeface="Calibri" pitchFamily="34" charset="0"/>
                <a:ea typeface="Calibri" pitchFamily="34" charset="-122"/>
                <a:cs typeface="Calibri" pitchFamily="34" charset="-120"/>
              </a:rPr>
              <a:t>StressLess</a:t>
            </a:r>
            <a:r>
              <a:rPr lang="en-US" sz="1400" dirty="0">
                <a:solidFill>
                  <a:srgbClr val="1D2247"/>
                </a:solidFill>
                <a:latin typeface="Calibri" pitchFamily="34" charset="0"/>
                <a:ea typeface="Calibri" pitchFamily="34" charset="-122"/>
                <a:cs typeface="Calibri" pitchFamily="34" charset="-120"/>
              </a:rPr>
              <a:t> connects Google Calendar and Google Maps with the biometric data an Apple Watch already collects, with the user's permission.</a:t>
            </a:r>
            <a:endParaRPr lang="en-US" sz="1400" dirty="0"/>
          </a:p>
          <a:p>
            <a:pPr marL="0" indent="0">
              <a:spcBef>
                <a:spcPts val="500"/>
              </a:spcBef>
              <a:buNone/>
            </a:pPr>
            <a:r>
              <a:rPr lang="en-US" sz="1400" b="1" dirty="0">
                <a:solidFill>
                  <a:srgbClr val="1D2247"/>
                </a:solidFill>
                <a:latin typeface="Calibri" pitchFamily="34" charset="0"/>
                <a:ea typeface="Calibri" pitchFamily="34" charset="-122"/>
                <a:cs typeface="Calibri" pitchFamily="34" charset="-120"/>
              </a:rPr>
              <a:t>Built for people who live by their calendar: </a:t>
            </a:r>
            <a:r>
              <a:rPr lang="en-US" sz="1400" dirty="0">
                <a:solidFill>
                  <a:srgbClr val="1D2247"/>
                </a:solidFill>
                <a:latin typeface="Calibri" pitchFamily="34" charset="0"/>
                <a:ea typeface="Calibri" pitchFamily="34" charset="-122"/>
                <a:cs typeface="Calibri" pitchFamily="34" charset="-120"/>
              </a:rPr>
              <a:t>every meeting, workout and dinner is booked, and they like it that way.</a:t>
            </a:r>
          </a:p>
        </p:txBody>
      </p:sp>
      <p:sp>
        <p:nvSpPr>
          <p:cNvPr id="4" name="Text 2"/>
          <p:cNvSpPr txBox="1"/>
          <p:nvPr/>
        </p:nvSpPr>
        <p:spPr>
          <a:xfrm>
            <a:off x="457200" y="2743200"/>
            <a:ext cx="4206240" cy="200000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1D2247"/>
                </a:solidFill>
                <a:latin typeface="Calibri" pitchFamily="34" charset="0"/>
                <a:ea typeface="Calibri" pitchFamily="34" charset="-122"/>
                <a:cs typeface="Calibri" pitchFamily="34" charset="-120"/>
              </a:rPr>
              <a:t>Matches every calendar event to the body's response the same day and the night after.</a:t>
            </a:r>
            <a:endParaRPr lang="en-US" sz="1200" dirty="0"/>
          </a:p>
          <a:p>
            <a:pPr marL="152400" indent="-152400">
              <a:spcAft>
                <a:spcPts val="400"/>
              </a:spcAft>
              <a:buSzPct val="100000"/>
              <a:buChar char="•"/>
            </a:pPr>
            <a:r>
              <a:rPr lang="en-US" sz="1200" dirty="0">
                <a:solidFill>
                  <a:srgbClr val="1D2247"/>
                </a:solidFill>
                <a:latin typeface="Calibri" pitchFamily="34" charset="0"/>
                <a:ea typeface="Calibri" pitchFamily="34" charset="-122"/>
                <a:cs typeface="Calibri" pitchFamily="34" charset="-120"/>
              </a:rPr>
              <a:t>Checks the calendar against reality: Google Maps location and the body's response show whether the event happened. When they disagree, the app asks: "Did you actually do this?"</a:t>
            </a:r>
            <a:endParaRPr lang="en-US" sz="1200" dirty="0"/>
          </a:p>
          <a:p>
            <a:pPr marL="152400" indent="-152400">
              <a:spcAft>
                <a:spcPts val="400"/>
              </a:spcAft>
              <a:buSzPct val="100000"/>
              <a:buChar char="•"/>
            </a:pPr>
            <a:r>
              <a:rPr lang="en-US" sz="1200" dirty="0">
                <a:solidFill>
                  <a:srgbClr val="1D2247"/>
                </a:solidFill>
                <a:latin typeface="Calibri" pitchFamily="34" charset="0"/>
                <a:ea typeface="Calibri" pitchFamily="34" charset="-122"/>
                <a:cs typeface="Calibri" pitchFamily="34" charset="-120"/>
              </a:rPr>
              <a:t>Learns over weeks which patterns reoccur: good habits and bad habits, ranked by effect.</a:t>
            </a:r>
            <a:endParaRPr lang="en-US" sz="1200" dirty="0"/>
          </a:p>
          <a:p>
            <a:pPr marL="152400" indent="-152400">
              <a:spcAft>
                <a:spcPts val="400"/>
              </a:spcAft>
              <a:buSzPct val="100000"/>
              <a:buChar char="•"/>
            </a:pPr>
            <a:r>
              <a:rPr lang="en-US" sz="1200" dirty="0">
                <a:solidFill>
                  <a:srgbClr val="1D2247"/>
                </a:solidFill>
                <a:latin typeface="Calibri" pitchFamily="34" charset="0"/>
                <a:ea typeface="Calibri" pitchFamily="34" charset="-122"/>
                <a:cs typeface="Calibri" pitchFamily="34" charset="-120"/>
              </a:rPr>
              <a:t>Suggests concrete changes you can put straight into the calendar, like protecting 45 minutes before bed.</a:t>
            </a:r>
            <a:endParaRPr lang="en-US" sz="1200" dirty="0"/>
          </a:p>
          <a:p>
            <a:pPr marL="152400" indent="-152400">
              <a:spcAft>
                <a:spcPts val="400"/>
              </a:spcAft>
              <a:buSzPct val="100000"/>
              <a:buChar char="•"/>
            </a:pPr>
            <a:r>
              <a:rPr lang="en-US" sz="1200" dirty="0">
                <a:solidFill>
                  <a:srgbClr val="1D2247"/>
                </a:solidFill>
                <a:latin typeface="Calibri" pitchFamily="34" charset="0"/>
                <a:ea typeface="Calibri" pitchFamily="34" charset="-122"/>
                <a:cs typeface="Calibri" pitchFamily="34" charset="-120"/>
              </a:rPr>
              <a:t>No logging. The watch measures, the calendar explains.</a:t>
            </a:r>
            <a:endParaRPr lang="en-US" sz="1200" dirty="0"/>
          </a:p>
        </p:txBody>
      </p:sp>
      <p:sp>
        <p:nvSpPr>
          <p:cNvPr id="5" name="Shape 3"/>
          <p:cNvSpPr/>
          <p:nvPr/>
        </p:nvSpPr>
        <p:spPr>
          <a:xfrm>
            <a:off x="4873752" y="1828800"/>
            <a:ext cx="533400" cy="533400"/>
          </a:xfrm>
          <a:prstGeom prst="ellipse">
            <a:avLst/>
          </a:prstGeom>
          <a:solidFill>
            <a:srgbClr val="1D2247"/>
          </a:solidFill>
          <a:ln w="12700">
            <a:solidFill>
              <a:srgbClr val="1D2247"/>
            </a:solidFill>
            <a:prstDash val="solid"/>
          </a:ln>
        </p:spPr>
        <p:txBody>
          <a:bodyPr/>
          <a:lstStyle/>
          <a:p>
            <a:endParaRPr lang="sv-SE"/>
          </a:p>
        </p:txBody>
      </p:sp>
      <p:pic>
        <p:nvPicPr>
          <p:cNvPr id="6" name="Image 0" descr="preencoded.png"/>
          <p:cNvPicPr>
            <a:picLocks noChangeAspect="1"/>
          </p:cNvPicPr>
          <p:nvPr/>
        </p:nvPicPr>
        <p:blipFill>
          <a:blip r:embed="rId3"/>
          <a:stretch>
            <a:fillRect/>
          </a:stretch>
        </p:blipFill>
        <p:spPr>
          <a:xfrm>
            <a:off x="5000752" y="1955800"/>
            <a:ext cx="279400" cy="279400"/>
          </a:xfrm>
          <a:prstGeom prst="rect">
            <a:avLst/>
          </a:prstGeom>
        </p:spPr>
      </p:pic>
      <p:sp>
        <p:nvSpPr>
          <p:cNvPr id="7" name="Shape 4"/>
          <p:cNvSpPr/>
          <p:nvPr/>
        </p:nvSpPr>
        <p:spPr>
          <a:xfrm>
            <a:off x="5692902" y="1828800"/>
            <a:ext cx="533400" cy="533400"/>
          </a:xfrm>
          <a:prstGeom prst="ellipse">
            <a:avLst/>
          </a:prstGeom>
          <a:solidFill>
            <a:srgbClr val="1D2247"/>
          </a:solidFill>
          <a:ln w="12700">
            <a:solidFill>
              <a:srgbClr val="1D2247"/>
            </a:solidFill>
            <a:prstDash val="solid"/>
          </a:ln>
        </p:spPr>
        <p:txBody>
          <a:bodyPr/>
          <a:lstStyle/>
          <a:p>
            <a:endParaRPr lang="sv-SE"/>
          </a:p>
        </p:txBody>
      </p:sp>
      <p:pic>
        <p:nvPicPr>
          <p:cNvPr id="8" name="Image 1" descr="preencoded.png"/>
          <p:cNvPicPr>
            <a:picLocks noChangeAspect="1"/>
          </p:cNvPicPr>
          <p:nvPr/>
        </p:nvPicPr>
        <p:blipFill>
          <a:blip r:embed="rId4"/>
          <a:stretch>
            <a:fillRect/>
          </a:stretch>
        </p:blipFill>
        <p:spPr>
          <a:xfrm>
            <a:off x="5819902" y="1955800"/>
            <a:ext cx="279400" cy="279400"/>
          </a:xfrm>
          <a:prstGeom prst="rect">
            <a:avLst/>
          </a:prstGeom>
        </p:spPr>
      </p:pic>
      <p:sp>
        <p:nvSpPr>
          <p:cNvPr id="9" name="Shape 5"/>
          <p:cNvSpPr/>
          <p:nvPr/>
        </p:nvSpPr>
        <p:spPr>
          <a:xfrm>
            <a:off x="8150352" y="1828800"/>
            <a:ext cx="533400" cy="533400"/>
          </a:xfrm>
          <a:prstGeom prst="ellipse">
            <a:avLst/>
          </a:prstGeom>
          <a:solidFill>
            <a:srgbClr val="FF6B5B"/>
          </a:solidFill>
          <a:ln w="12700">
            <a:solidFill>
              <a:srgbClr val="FF6B5B"/>
            </a:solidFill>
            <a:prstDash val="solid"/>
          </a:ln>
        </p:spPr>
        <p:txBody>
          <a:bodyPr/>
          <a:lstStyle/>
          <a:p>
            <a:endParaRPr lang="sv-SE"/>
          </a:p>
        </p:txBody>
      </p:sp>
      <p:pic>
        <p:nvPicPr>
          <p:cNvPr id="10" name="Image 2" descr="preencoded.png"/>
          <p:cNvPicPr>
            <a:picLocks noChangeAspect="1"/>
          </p:cNvPicPr>
          <p:nvPr/>
        </p:nvPicPr>
        <p:blipFill>
          <a:blip r:embed="rId5"/>
          <a:stretch>
            <a:fillRect/>
          </a:stretch>
        </p:blipFill>
        <p:spPr>
          <a:xfrm>
            <a:off x="8277352" y="1955800"/>
            <a:ext cx="279400" cy="279400"/>
          </a:xfrm>
          <a:prstGeom prst="rect">
            <a:avLst/>
          </a:prstGeom>
        </p:spPr>
      </p:pic>
      <p:sp>
        <p:nvSpPr>
          <p:cNvPr id="11" name="Text 6"/>
          <p:cNvSpPr txBox="1"/>
          <p:nvPr/>
        </p:nvSpPr>
        <p:spPr>
          <a:xfrm>
            <a:off x="5407152" y="1828800"/>
            <a:ext cx="285750" cy="533400"/>
          </a:xfrm>
          <a:prstGeom prst="rect">
            <a:avLst/>
          </a:prstGeom>
          <a:noFill/>
          <a:ln/>
        </p:spPr>
        <p:txBody>
          <a:bodyPr wrap="square" lIns="0" tIns="0" rIns="0" bIns="0" rtlCol="0" anchor="ctr"/>
          <a:lstStyle/>
          <a:p>
            <a:pPr marL="0" indent="0" algn="ctr">
              <a:buNone/>
            </a:pPr>
            <a:r>
              <a:rPr lang="en-US" sz="2400" dirty="0">
                <a:solidFill>
                  <a:srgbClr val="6E7291"/>
                </a:solidFill>
                <a:latin typeface="Calibri" pitchFamily="34" charset="0"/>
                <a:ea typeface="Calibri" pitchFamily="34" charset="-122"/>
                <a:cs typeface="Calibri" pitchFamily="34" charset="-120"/>
              </a:rPr>
              <a:t>+</a:t>
            </a:r>
            <a:endParaRPr lang="en-US" sz="3000" dirty="0"/>
          </a:p>
        </p:txBody>
      </p:sp>
      <p:sp>
        <p:nvSpPr>
          <p:cNvPr id="12" name="Text 7"/>
          <p:cNvSpPr txBox="1"/>
          <p:nvPr/>
        </p:nvSpPr>
        <p:spPr>
          <a:xfrm>
            <a:off x="7864602" y="1828800"/>
            <a:ext cx="285750" cy="533400"/>
          </a:xfrm>
          <a:prstGeom prst="rect">
            <a:avLst/>
          </a:prstGeom>
          <a:noFill/>
          <a:ln/>
        </p:spPr>
        <p:txBody>
          <a:bodyPr wrap="square" lIns="0" tIns="0" rIns="0" bIns="0" rtlCol="0" anchor="ctr"/>
          <a:lstStyle/>
          <a:p>
            <a:pPr marL="0" indent="0" algn="ctr">
              <a:buNone/>
            </a:pPr>
            <a:r>
              <a:rPr lang="en-US" sz="2400" dirty="0">
                <a:solidFill>
                  <a:srgbClr val="6E7291"/>
                </a:solidFill>
                <a:latin typeface="Calibri" pitchFamily="34" charset="0"/>
                <a:ea typeface="Calibri" pitchFamily="34" charset="-122"/>
                <a:cs typeface="Calibri" pitchFamily="34" charset="-120"/>
              </a:rPr>
              <a:t>=</a:t>
            </a:r>
            <a:endParaRPr lang="en-US" sz="3000" dirty="0"/>
          </a:p>
        </p:txBody>
      </p:sp>
      <p:sp>
        <p:nvSpPr>
          <p:cNvPr id="13" name="Text 8"/>
          <p:cNvSpPr txBox="1"/>
          <p:nvPr/>
        </p:nvSpPr>
        <p:spPr>
          <a:xfrm>
            <a:off x="4734052" y="2451100"/>
            <a:ext cx="812800" cy="640080"/>
          </a:xfrm>
          <a:prstGeom prst="rect">
            <a:avLst/>
          </a:prstGeom>
          <a:noFill/>
          <a:ln/>
        </p:spPr>
        <p:txBody>
          <a:bodyPr wrap="square" lIns="0" tIns="0" rIns="0" bIns="0" rtlCol="0" anchor="t"/>
          <a:lstStyle/>
          <a:p>
            <a:pPr marL="0" indent="0" algn="ctr">
              <a:buNone/>
            </a:pPr>
            <a:r>
              <a:rPr lang="en-US" sz="1000" b="1" dirty="0">
                <a:solidFill>
                  <a:srgbClr val="1D2247"/>
                </a:solidFill>
                <a:latin typeface="Calibri" pitchFamily="34" charset="0"/>
                <a:ea typeface="Calibri" pitchFamily="34" charset="-122"/>
                <a:cs typeface="Calibri" pitchFamily="34" charset="-120"/>
              </a:rPr>
              <a:t>Calendar</a:t>
            </a:r>
            <a:endParaRPr lang="en-US" sz="1150" dirty="0"/>
          </a:p>
          <a:p>
            <a:pPr marL="0" indent="0" algn="ctr">
              <a:buNone/>
            </a:pPr>
            <a:r>
              <a:rPr lang="en-US" sz="900" dirty="0">
                <a:solidFill>
                  <a:srgbClr val="6E7291"/>
                </a:solidFill>
                <a:latin typeface="Calibri" pitchFamily="34" charset="0"/>
                <a:ea typeface="Calibri" pitchFamily="34" charset="-122"/>
                <a:cs typeface="Calibri" pitchFamily="34" charset="-120"/>
              </a:rPr>
              <a:t>what you did</a:t>
            </a:r>
            <a:endParaRPr lang="en-US" sz="1150" dirty="0"/>
          </a:p>
        </p:txBody>
      </p:sp>
      <p:sp>
        <p:nvSpPr>
          <p:cNvPr id="14" name="Text 9"/>
          <p:cNvSpPr txBox="1"/>
          <p:nvPr/>
        </p:nvSpPr>
        <p:spPr>
          <a:xfrm>
            <a:off x="5553202" y="2451100"/>
            <a:ext cx="812800" cy="640080"/>
          </a:xfrm>
          <a:prstGeom prst="rect">
            <a:avLst/>
          </a:prstGeom>
          <a:noFill/>
          <a:ln/>
        </p:spPr>
        <p:txBody>
          <a:bodyPr wrap="square" lIns="0" tIns="0" rIns="0" bIns="0" rtlCol="0" anchor="t"/>
          <a:lstStyle/>
          <a:p>
            <a:pPr marL="0" indent="0" algn="ctr">
              <a:buNone/>
            </a:pPr>
            <a:r>
              <a:rPr lang="en-US" sz="1000" b="1" dirty="0">
                <a:solidFill>
                  <a:srgbClr val="1D2247"/>
                </a:solidFill>
                <a:latin typeface="Calibri" pitchFamily="34" charset="0"/>
                <a:ea typeface="Calibri" pitchFamily="34" charset="-122"/>
                <a:cs typeface="Calibri" pitchFamily="34" charset="-120"/>
              </a:rPr>
              <a:t>Wearables</a:t>
            </a:r>
            <a:endParaRPr lang="en-US" sz="1150" dirty="0"/>
          </a:p>
          <a:p>
            <a:pPr marL="0" indent="0" algn="ctr">
              <a:buNone/>
            </a:pPr>
            <a:r>
              <a:rPr lang="en-US" sz="900" dirty="0">
                <a:solidFill>
                  <a:srgbClr val="6E7291"/>
                </a:solidFill>
                <a:latin typeface="Calibri" pitchFamily="34" charset="0"/>
                <a:ea typeface="Calibri" pitchFamily="34" charset="-122"/>
                <a:cs typeface="Calibri" pitchFamily="34" charset="-120"/>
              </a:rPr>
              <a:t>how your body reacted</a:t>
            </a:r>
            <a:endParaRPr lang="en-US" sz="1150" dirty="0"/>
          </a:p>
        </p:txBody>
      </p:sp>
      <p:sp>
        <p:nvSpPr>
          <p:cNvPr id="15" name="Text 10"/>
          <p:cNvSpPr txBox="1"/>
          <p:nvPr/>
        </p:nvSpPr>
        <p:spPr>
          <a:xfrm>
            <a:off x="8010652" y="2451100"/>
            <a:ext cx="812800" cy="640080"/>
          </a:xfrm>
          <a:prstGeom prst="rect">
            <a:avLst/>
          </a:prstGeom>
          <a:noFill/>
          <a:ln/>
        </p:spPr>
        <p:txBody>
          <a:bodyPr wrap="square" lIns="0" tIns="0" rIns="0" bIns="0" rtlCol="0" anchor="t"/>
          <a:lstStyle/>
          <a:p>
            <a:pPr marL="0" indent="0" algn="ctr">
              <a:buNone/>
            </a:pPr>
            <a:r>
              <a:rPr lang="en-US" sz="1000" b="1" dirty="0">
                <a:solidFill>
                  <a:srgbClr val="1D2247"/>
                </a:solidFill>
                <a:latin typeface="Calibri" pitchFamily="34" charset="0"/>
                <a:ea typeface="Calibri" pitchFamily="34" charset="-122"/>
                <a:cs typeface="Calibri" pitchFamily="34" charset="-120"/>
              </a:rPr>
              <a:t>Stressless</a:t>
            </a:r>
            <a:endParaRPr lang="en-US" sz="1150" dirty="0"/>
          </a:p>
          <a:p>
            <a:pPr marL="0" indent="0" algn="ctr">
              <a:buNone/>
            </a:pPr>
            <a:r>
              <a:rPr lang="en-US" sz="900" dirty="0">
                <a:solidFill>
                  <a:srgbClr val="6E7291"/>
                </a:solidFill>
                <a:latin typeface="Calibri" pitchFamily="34" charset="0"/>
                <a:ea typeface="Calibri" pitchFamily="34" charset="-122"/>
                <a:cs typeface="Calibri" pitchFamily="34" charset="-120"/>
              </a:rPr>
              <a:t>the explanation</a:t>
            </a:r>
            <a:endParaRPr lang="en-US" sz="1150" dirty="0"/>
          </a:p>
        </p:txBody>
      </p:sp>
      <p:sp>
        <p:nvSpPr>
          <p:cNvPr id="20" name="Shape Maps"/>
          <p:cNvSpPr/>
          <p:nvPr/>
        </p:nvSpPr>
        <p:spPr>
          <a:xfrm>
            <a:off x="6512052" y="1828800"/>
            <a:ext cx="533400" cy="533400"/>
          </a:xfrm>
          <a:prstGeom prst="ellipse">
            <a:avLst/>
          </a:prstGeom>
          <a:solidFill>
            <a:srgbClr val="1D2247"/>
          </a:solidFill>
          <a:ln w="12700">
            <a:solidFill>
              <a:srgbClr val="1D2247"/>
            </a:solidFill>
            <a:prstDash val="solid"/>
          </a:ln>
        </p:spPr>
        <p:txBody>
          <a:bodyPr/>
          <a:lstStyle/>
          <a:p>
            <a:endParaRPr lang="sv-SE"/>
          </a:p>
        </p:txBody>
      </p:sp>
      <p:sp>
        <p:nvSpPr>
          <p:cNvPr id="21" name="Text plus2"/>
          <p:cNvSpPr txBox="1"/>
          <p:nvPr/>
        </p:nvSpPr>
        <p:spPr>
          <a:xfrm>
            <a:off x="6226302" y="1828800"/>
            <a:ext cx="285750" cy="533400"/>
          </a:xfrm>
          <a:prstGeom prst="rect">
            <a:avLst/>
          </a:prstGeom>
          <a:noFill/>
          <a:ln/>
        </p:spPr>
        <p:txBody>
          <a:bodyPr wrap="square" lIns="0" tIns="0" rIns="0" bIns="0" rtlCol="0" anchor="ctr"/>
          <a:lstStyle/>
          <a:p>
            <a:pPr marL="0" indent="0" algn="ctr">
              <a:buNone/>
            </a:pPr>
            <a:r>
              <a:rPr lang="en-US" sz="2400" dirty="0">
                <a:solidFill>
                  <a:srgbClr val="6E7291"/>
                </a:solidFill>
                <a:latin typeface="Calibri" pitchFamily="34" charset="0"/>
                <a:ea typeface="Calibri" pitchFamily="34" charset="-122"/>
                <a:cs typeface="Calibri" pitchFamily="34" charset="-120"/>
              </a:rPr>
              <a:t>+</a:t>
            </a:r>
          </a:p>
        </p:txBody>
      </p:sp>
      <p:sp>
        <p:nvSpPr>
          <p:cNvPr id="22" name="Text Maps label"/>
          <p:cNvSpPr txBox="1"/>
          <p:nvPr/>
        </p:nvSpPr>
        <p:spPr>
          <a:xfrm>
            <a:off x="6372352" y="2451100"/>
            <a:ext cx="812800" cy="640080"/>
          </a:xfrm>
          <a:prstGeom prst="rect">
            <a:avLst/>
          </a:prstGeom>
          <a:noFill/>
          <a:ln/>
        </p:spPr>
        <p:txBody>
          <a:bodyPr wrap="square" lIns="0" tIns="0" rIns="0" bIns="0" rtlCol="0" anchor="t"/>
          <a:lstStyle/>
          <a:p>
            <a:pPr marL="0" indent="0" algn="ctr">
              <a:buNone/>
            </a:pPr>
            <a:r>
              <a:rPr lang="en-US" sz="1000" b="1" dirty="0">
                <a:solidFill>
                  <a:srgbClr val="1D2247"/>
                </a:solidFill>
                <a:latin typeface="Calibri" pitchFamily="34" charset="0"/>
                <a:ea typeface="Calibri" pitchFamily="34" charset="-122"/>
                <a:cs typeface="Calibri" pitchFamily="34" charset="-120"/>
              </a:rPr>
              <a:t>Maps</a:t>
            </a:r>
          </a:p>
          <a:p>
            <a:pPr marL="0" indent="0" algn="ctr">
              <a:buNone/>
            </a:pPr>
            <a:r>
              <a:rPr lang="en-US" sz="900" dirty="0">
                <a:solidFill>
                  <a:srgbClr val="6E7291"/>
                </a:solidFill>
                <a:latin typeface="Calibri" pitchFamily="34" charset="0"/>
                <a:ea typeface="Calibri" pitchFamily="34" charset="-122"/>
                <a:cs typeface="Calibri" pitchFamily="34" charset="-120"/>
              </a:rPr>
              <a:t>where you were</a:t>
            </a:r>
          </a:p>
        </p:txBody>
      </p:sp>
      <p:sp>
        <p:nvSpPr>
          <p:cNvPr id="30" name="Shape AI"/>
          <p:cNvSpPr/>
          <p:nvPr/>
        </p:nvSpPr>
        <p:spPr>
          <a:xfrm>
            <a:off x="7331202" y="1828800"/>
            <a:ext cx="533400" cy="533400"/>
          </a:xfrm>
          <a:prstGeom prst="ellipse">
            <a:avLst/>
          </a:prstGeom>
          <a:solidFill>
            <a:srgbClr val="1D2247"/>
          </a:solidFill>
          <a:ln w="12700">
            <a:solidFill>
              <a:srgbClr val="1D2247"/>
            </a:solidFill>
            <a:prstDash val="solid"/>
          </a:ln>
        </p:spPr>
        <p:txBody>
          <a:bodyPr/>
          <a:lstStyle/>
          <a:p>
            <a:endParaRPr lang="sv-SE"/>
          </a:p>
        </p:txBody>
      </p:sp>
      <p:sp>
        <p:nvSpPr>
          <p:cNvPr id="31" name="Text plus3"/>
          <p:cNvSpPr txBox="1"/>
          <p:nvPr/>
        </p:nvSpPr>
        <p:spPr>
          <a:xfrm>
            <a:off x="7045452" y="1828800"/>
            <a:ext cx="285750" cy="533400"/>
          </a:xfrm>
          <a:prstGeom prst="rect">
            <a:avLst/>
          </a:prstGeom>
          <a:noFill/>
          <a:ln/>
        </p:spPr>
        <p:txBody>
          <a:bodyPr wrap="square" lIns="0" tIns="0" rIns="0" bIns="0" rtlCol="0" anchor="ctr"/>
          <a:lstStyle/>
          <a:p>
            <a:pPr marL="0" indent="0" algn="ctr">
              <a:buNone/>
            </a:pPr>
            <a:r>
              <a:rPr lang="en-US" sz="2400" dirty="0">
                <a:solidFill>
                  <a:srgbClr val="6E7291"/>
                </a:solidFill>
                <a:latin typeface="Calibri" pitchFamily="34" charset="0"/>
                <a:ea typeface="Calibri" pitchFamily="34" charset="-122"/>
                <a:cs typeface="Calibri" pitchFamily="34" charset="-120"/>
              </a:rPr>
              <a:t>+</a:t>
            </a:r>
          </a:p>
        </p:txBody>
      </p:sp>
      <p:sp>
        <p:nvSpPr>
          <p:cNvPr id="32" name="Text AI label"/>
          <p:cNvSpPr txBox="1"/>
          <p:nvPr/>
        </p:nvSpPr>
        <p:spPr>
          <a:xfrm>
            <a:off x="7191502" y="2451100"/>
            <a:ext cx="812800" cy="640080"/>
          </a:xfrm>
          <a:prstGeom prst="rect">
            <a:avLst/>
          </a:prstGeom>
          <a:noFill/>
          <a:ln/>
        </p:spPr>
        <p:txBody>
          <a:bodyPr wrap="square" lIns="0" tIns="0" rIns="0" bIns="0" rtlCol="0" anchor="t"/>
          <a:lstStyle/>
          <a:p>
            <a:pPr marL="0" indent="0" algn="ctr">
              <a:buNone/>
            </a:pPr>
            <a:r>
              <a:rPr lang="en-US" sz="1000" b="1" dirty="0">
                <a:solidFill>
                  <a:srgbClr val="1D2247"/>
                </a:solidFill>
                <a:latin typeface="Calibri" pitchFamily="34" charset="0"/>
                <a:ea typeface="Calibri" pitchFamily="34" charset="-122"/>
                <a:cs typeface="Calibri" pitchFamily="34" charset="-120"/>
              </a:rPr>
              <a:t>Reasoning AI</a:t>
            </a:r>
          </a:p>
          <a:p>
            <a:pPr marL="0" indent="0" algn="ctr">
              <a:buNone/>
            </a:pPr>
            <a:r>
              <a:rPr lang="en-US" sz="900" dirty="0">
                <a:solidFill>
                  <a:srgbClr val="6E7291"/>
                </a:solidFill>
                <a:latin typeface="Calibri" pitchFamily="34" charset="0"/>
                <a:ea typeface="Calibri" pitchFamily="34" charset="-122"/>
                <a:cs typeface="Calibri" pitchFamily="34" charset="-120"/>
              </a:rPr>
              <a:t>works out why</a:t>
            </a:r>
          </a:p>
        </p:txBody>
      </p:sp>
      <p:sp>
        <p:nvSpPr>
          <p:cNvPr id="16" name="Shape 11"/>
          <p:cNvSpPr/>
          <p:nvPr/>
        </p:nvSpPr>
        <p:spPr>
          <a:xfrm>
            <a:off x="5074920" y="3611880"/>
            <a:ext cx="3611880" cy="1051560"/>
          </a:xfrm>
          <a:prstGeom prst="roundRect">
            <a:avLst>
              <a:gd name="adj" fmla="val 8696"/>
            </a:avLst>
          </a:prstGeom>
          <a:solidFill>
            <a:srgbClr val="F1F2FA"/>
          </a:solidFill>
          <a:ln w="12700">
            <a:solidFill>
              <a:srgbClr val="F1F2FA"/>
            </a:solidFill>
            <a:prstDash val="solid"/>
          </a:ln>
        </p:spPr>
        <p:txBody>
          <a:bodyPr/>
          <a:lstStyle/>
          <a:p>
            <a:endParaRPr lang="sv-SE"/>
          </a:p>
        </p:txBody>
      </p:sp>
      <p:sp>
        <p:nvSpPr>
          <p:cNvPr id="17" name="Text 12"/>
          <p:cNvSpPr txBox="1"/>
          <p:nvPr/>
        </p:nvSpPr>
        <p:spPr>
          <a:xfrm>
            <a:off x="5257800" y="3721608"/>
            <a:ext cx="3246120" cy="868680"/>
          </a:xfrm>
          <a:prstGeom prst="rect">
            <a:avLst/>
          </a:prstGeom>
          <a:noFill/>
          <a:ln/>
        </p:spPr>
        <p:txBody>
          <a:bodyPr wrap="square" lIns="0" tIns="0" rIns="0" bIns="0" rtlCol="0" anchor="t"/>
          <a:lstStyle/>
          <a:p>
            <a:pPr marL="0" indent="0">
              <a:spcAft>
                <a:spcPts val="400"/>
              </a:spcAft>
              <a:buNone/>
            </a:pPr>
            <a:r>
              <a:rPr lang="en-US" sz="1000" dirty="0">
                <a:solidFill>
                  <a:srgbClr val="6E7291"/>
                </a:solidFill>
                <a:latin typeface="Calibri" pitchFamily="34" charset="0"/>
                <a:ea typeface="Calibri" pitchFamily="34" charset="-122"/>
                <a:cs typeface="Calibri" pitchFamily="34" charset="-120"/>
              </a:rPr>
              <a:t>Why now</a:t>
            </a:r>
            <a:endParaRPr lang="en-US" sz="1000" dirty="0"/>
          </a:p>
          <a:p>
            <a:pPr marL="0" indent="0">
              <a:buNone/>
            </a:pPr>
            <a:r>
              <a:rPr lang="en-US" sz="1150" dirty="0">
                <a:solidFill>
                  <a:srgbClr val="1D2247"/>
                </a:solidFill>
                <a:latin typeface="Calibri" pitchFamily="34" charset="0"/>
                <a:ea typeface="Calibri" pitchFamily="34" charset="-122"/>
                <a:cs typeface="Calibri" pitchFamily="34" charset="-120"/>
              </a:rPr>
              <a:t>Apple Watch now ships a native Sleep Score (watchOS 26). Biometrics are collected passively. The calendar is the richest log of what we actually do.</a:t>
            </a:r>
            <a:endParaRPr lang="en-US" sz="1000" dirty="0"/>
          </a:p>
        </p:txBody>
      </p:sp>
      <p:sp>
        <p:nvSpPr>
          <p:cNvPr id="19" name="Text 14"/>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6E7291"/>
                </a:solidFill>
                <a:latin typeface="Calibri" pitchFamily="34" charset="0"/>
                <a:ea typeface="Calibri" pitchFamily="34" charset="-122"/>
                <a:cs typeface="Calibri" pitchFamily="34" charset="-120"/>
              </a:rPr>
              <a:t>3</a:t>
            </a:r>
            <a:endParaRPr lang="en-US" sz="900" dirty="0"/>
          </a:p>
        </p:txBody>
      </p:sp>
      <p:pic>
        <p:nvPicPr>
          <p:cNvPr id="23" name="Graphic 23" descr="Location marke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39052" y="1955800"/>
            <a:ext cx="279400" cy="279400"/>
          </a:xfrm>
          <a:prstGeom prst="rect">
            <a:avLst/>
          </a:prstGeom>
        </p:spPr>
      </p:pic>
      <p:pic>
        <p:nvPicPr>
          <p:cNvPr id="33" name="Graphic 33" descr="Reasoning AI"/>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58202" y="1955800"/>
            <a:ext cx="279400" cy="279400"/>
          </a:xfrm>
          <a:prstGeom prst="rect">
            <a:avLst/>
          </a:prstGeom>
        </p:spPr>
      </p:pic>
    </p:spTree>
    <p:extLst>
      <p:ext uri="{BB962C8B-B14F-4D97-AF65-F5344CB8AC3E}">
        <p14:creationId xmlns:p14="http://schemas.microsoft.com/office/powerpoint/2010/main" val="3068470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84048"/>
            <a:ext cx="8229600" cy="777240"/>
          </a:xfrm>
          <a:prstGeom prst="rect">
            <a:avLst/>
          </a:prstGeom>
          <a:noFill/>
          <a:ln/>
        </p:spPr>
        <p:txBody>
          <a:bodyPr wrap="square" lIns="0" tIns="0" rIns="0" bIns="0" rtlCol="0" anchor="t"/>
          <a:lstStyle/>
          <a:p>
            <a:pPr marL="0" indent="0">
              <a:buNone/>
            </a:pPr>
            <a:r>
              <a:rPr lang="en-US" sz="3000" b="1" dirty="0">
                <a:solidFill>
                  <a:srgbClr val="1D2247"/>
                </a:solidFill>
                <a:latin typeface="Calibri" pitchFamily="34" charset="0"/>
                <a:ea typeface="Calibri" pitchFamily="34" charset="-122"/>
                <a:cs typeface="Calibri" pitchFamily="34" charset="-120"/>
              </a:rPr>
              <a:t>What we connect</a:t>
            </a:r>
            <a:endParaRPr lang="en-US" sz="3000" dirty="0"/>
          </a:p>
        </p:txBody>
      </p:sp>
      <p:sp>
        <p:nvSpPr>
          <p:cNvPr id="3" name="Shape 1"/>
          <p:cNvSpPr/>
          <p:nvPr/>
        </p:nvSpPr>
        <p:spPr>
          <a:xfrm>
            <a:off x="381000" y="1280160"/>
            <a:ext cx="1962150" cy="2809240"/>
          </a:xfrm>
          <a:prstGeom prst="roundRect">
            <a:avLst>
              <a:gd name="adj" fmla="val 3279"/>
            </a:avLst>
          </a:prstGeom>
          <a:solidFill>
            <a:srgbClr val="F1F2FA"/>
          </a:solidFill>
          <a:ln w="12700">
            <a:solidFill>
              <a:srgbClr val="F1F2FA"/>
            </a:solidFill>
            <a:prstDash val="solid"/>
          </a:ln>
        </p:spPr>
        <p:txBody>
          <a:bodyPr/>
          <a:lstStyle/>
          <a:p>
            <a:endParaRPr lang="sv-SE"/>
          </a:p>
        </p:txBody>
      </p:sp>
      <p:sp>
        <p:nvSpPr>
          <p:cNvPr id="4" name="Shape 2"/>
          <p:cNvSpPr/>
          <p:nvPr/>
        </p:nvSpPr>
        <p:spPr>
          <a:xfrm>
            <a:off x="508000" y="1419860"/>
            <a:ext cx="381000" cy="381000"/>
          </a:xfrm>
          <a:prstGeom prst="ellipse">
            <a:avLst/>
          </a:prstGeom>
          <a:solidFill>
            <a:srgbClr val="FFE3DE"/>
          </a:solidFill>
          <a:ln w="12700">
            <a:solidFill>
              <a:srgbClr val="FFE3DE"/>
            </a:solidFill>
            <a:prstDash val="solid"/>
          </a:ln>
        </p:spPr>
        <p:txBody>
          <a:bodyPr/>
          <a:lstStyle/>
          <a:p>
            <a:endParaRPr lang="sv-SE"/>
          </a:p>
        </p:txBody>
      </p:sp>
      <p:pic>
        <p:nvPicPr>
          <p:cNvPr id="5" name="Image 0" descr="preencoded.png"/>
          <p:cNvPicPr>
            <a:picLocks noChangeAspect="1"/>
          </p:cNvPicPr>
          <p:nvPr/>
        </p:nvPicPr>
        <p:blipFill>
          <a:blip r:embed="rId3"/>
          <a:stretch>
            <a:fillRect/>
          </a:stretch>
        </p:blipFill>
        <p:spPr>
          <a:xfrm>
            <a:off x="596900" y="1508760"/>
            <a:ext cx="203200" cy="203200"/>
          </a:xfrm>
          <a:prstGeom prst="rect">
            <a:avLst/>
          </a:prstGeom>
        </p:spPr>
      </p:pic>
      <p:sp>
        <p:nvSpPr>
          <p:cNvPr id="6" name="Text 3"/>
          <p:cNvSpPr txBox="1"/>
          <p:nvPr/>
        </p:nvSpPr>
        <p:spPr>
          <a:xfrm>
            <a:off x="977900" y="1419860"/>
            <a:ext cx="1289050" cy="381000"/>
          </a:xfrm>
          <a:prstGeom prst="rect">
            <a:avLst/>
          </a:prstGeom>
          <a:noFill/>
          <a:ln/>
        </p:spPr>
        <p:txBody>
          <a:bodyPr wrap="square" lIns="0" tIns="0" rIns="0" bIns="0" rtlCol="0" anchor="ctr"/>
          <a:lstStyle/>
          <a:p>
            <a:pPr marL="0" indent="0">
              <a:buNone/>
            </a:pPr>
            <a:r>
              <a:rPr lang="en-US" sz="1200" b="1" dirty="0">
                <a:solidFill>
                  <a:srgbClr val="1D2247"/>
                </a:solidFill>
                <a:latin typeface="Calibri" pitchFamily="34" charset="0"/>
                <a:ea typeface="Calibri" pitchFamily="34" charset="-122"/>
                <a:cs typeface="Calibri" pitchFamily="34" charset="-120"/>
              </a:rPr>
              <a:t>From the calendar</a:t>
            </a:r>
            <a:endParaRPr lang="en-US" sz="1500" dirty="0"/>
          </a:p>
        </p:txBody>
      </p:sp>
      <p:sp>
        <p:nvSpPr>
          <p:cNvPr id="7" name="Text 4"/>
          <p:cNvSpPr txBox="1"/>
          <p:nvPr/>
        </p:nvSpPr>
        <p:spPr>
          <a:xfrm>
            <a:off x="508000" y="1940560"/>
            <a:ext cx="1733550" cy="2047240"/>
          </a:xfrm>
          <a:prstGeom prst="rect">
            <a:avLst/>
          </a:prstGeom>
          <a:noFill/>
          <a:ln/>
        </p:spPr>
        <p:txBody>
          <a:bodyPr wrap="square" lIns="0" tIns="0" rIns="0" bIns="0" rtlCol="0" anchor="t"/>
          <a:lstStyle/>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Meeting density and back-to-back blocks</a:t>
            </a:r>
            <a:endParaRPr lang="en-US" sz="1000" dirty="0"/>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Early starts and late finishes</a:t>
            </a:r>
            <a:endParaRPr lang="en-US" sz="1000" dirty="0"/>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Evening social events</a:t>
            </a:r>
            <a:endParaRPr lang="en-US" sz="1000" dirty="0"/>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Workouts and when in the day they happen</a:t>
            </a:r>
            <a:endParaRPr lang="en-US" sz="1000" dirty="0"/>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Travel and time zones</a:t>
            </a:r>
            <a:endParaRPr lang="en-US" sz="1000" dirty="0"/>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Recurring events, in other words your habits</a:t>
            </a:r>
            <a:endParaRPr lang="en-US" sz="1000" dirty="0"/>
          </a:p>
        </p:txBody>
      </p:sp>
      <p:sp>
        <p:nvSpPr>
          <p:cNvPr id="8" name="Shape 5"/>
          <p:cNvSpPr/>
          <p:nvPr/>
        </p:nvSpPr>
        <p:spPr>
          <a:xfrm>
            <a:off x="2520950" y="1280160"/>
            <a:ext cx="1962150" cy="2809240"/>
          </a:xfrm>
          <a:prstGeom prst="roundRect">
            <a:avLst>
              <a:gd name="adj" fmla="val 3279"/>
            </a:avLst>
          </a:prstGeom>
          <a:solidFill>
            <a:srgbClr val="F1F2FA"/>
          </a:solidFill>
          <a:ln w="12700">
            <a:solidFill>
              <a:srgbClr val="F1F2FA"/>
            </a:solidFill>
            <a:prstDash val="solid"/>
          </a:ln>
        </p:spPr>
        <p:txBody>
          <a:bodyPr/>
          <a:lstStyle/>
          <a:p>
            <a:endParaRPr lang="sv-SE"/>
          </a:p>
        </p:txBody>
      </p:sp>
      <p:sp>
        <p:nvSpPr>
          <p:cNvPr id="9" name="Shape 6"/>
          <p:cNvSpPr/>
          <p:nvPr/>
        </p:nvSpPr>
        <p:spPr>
          <a:xfrm>
            <a:off x="2647950" y="1419860"/>
            <a:ext cx="381000" cy="381000"/>
          </a:xfrm>
          <a:prstGeom prst="ellipse">
            <a:avLst/>
          </a:prstGeom>
          <a:solidFill>
            <a:srgbClr val="FFE3DE"/>
          </a:solidFill>
          <a:ln w="12700">
            <a:solidFill>
              <a:srgbClr val="FFE3DE"/>
            </a:solidFill>
            <a:prstDash val="solid"/>
          </a:ln>
        </p:spPr>
        <p:txBody>
          <a:bodyPr/>
          <a:lstStyle/>
          <a:p>
            <a:endParaRPr lang="sv-SE"/>
          </a:p>
        </p:txBody>
      </p:sp>
      <p:pic>
        <p:nvPicPr>
          <p:cNvPr id="10" name="Image 1" descr="preencoded.png"/>
          <p:cNvPicPr>
            <a:picLocks noChangeAspect="1"/>
          </p:cNvPicPr>
          <p:nvPr/>
        </p:nvPicPr>
        <p:blipFill>
          <a:blip r:embed="rId4"/>
          <a:stretch>
            <a:fillRect/>
          </a:stretch>
        </p:blipFill>
        <p:spPr>
          <a:xfrm>
            <a:off x="2736850" y="1508760"/>
            <a:ext cx="203200" cy="203200"/>
          </a:xfrm>
          <a:prstGeom prst="rect">
            <a:avLst/>
          </a:prstGeom>
        </p:spPr>
      </p:pic>
      <p:sp>
        <p:nvSpPr>
          <p:cNvPr id="11" name="Text 7"/>
          <p:cNvSpPr txBox="1"/>
          <p:nvPr/>
        </p:nvSpPr>
        <p:spPr>
          <a:xfrm>
            <a:off x="3117850" y="1419860"/>
            <a:ext cx="1289050" cy="381000"/>
          </a:xfrm>
          <a:prstGeom prst="rect">
            <a:avLst/>
          </a:prstGeom>
          <a:noFill/>
          <a:ln/>
        </p:spPr>
        <p:txBody>
          <a:bodyPr wrap="square" lIns="0" tIns="0" rIns="0" bIns="0" rtlCol="0" anchor="ctr"/>
          <a:lstStyle/>
          <a:p>
            <a:pPr marL="0" indent="0">
              <a:buNone/>
            </a:pPr>
            <a:r>
              <a:rPr lang="en-US" sz="1200" b="1" dirty="0">
                <a:solidFill>
                  <a:srgbClr val="1D2247"/>
                </a:solidFill>
                <a:latin typeface="Calibri" pitchFamily="34" charset="0"/>
                <a:ea typeface="Calibri" pitchFamily="34" charset="-122"/>
                <a:cs typeface="Calibri" pitchFamily="34" charset="-120"/>
              </a:rPr>
              <a:t>From the watch</a:t>
            </a:r>
            <a:endParaRPr lang="en-US" sz="1500" dirty="0"/>
          </a:p>
        </p:txBody>
      </p:sp>
      <p:sp>
        <p:nvSpPr>
          <p:cNvPr id="12" name="Text 8"/>
          <p:cNvSpPr txBox="1"/>
          <p:nvPr/>
        </p:nvSpPr>
        <p:spPr>
          <a:xfrm>
            <a:off x="2647950" y="1940560"/>
            <a:ext cx="1733550" cy="2047240"/>
          </a:xfrm>
          <a:prstGeom prst="rect">
            <a:avLst/>
          </a:prstGeom>
          <a:noFill/>
          <a:ln/>
        </p:spPr>
        <p:txBody>
          <a:bodyPr wrap="square" lIns="0" tIns="0" rIns="0" bIns="0" rtlCol="0" anchor="t"/>
          <a:lstStyle/>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Heart rate during and after events</a:t>
            </a:r>
            <a:endParaRPr lang="en-US" sz="1000" dirty="0"/>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Resting heart rate and overnight HRV</a:t>
            </a:r>
            <a:endParaRPr lang="en-US" sz="1000" dirty="0"/>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Respiratory rate and wrist temperature</a:t>
            </a:r>
            <a:endParaRPr lang="en-US" sz="1000" dirty="0"/>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Blood oxygen, where available</a:t>
            </a:r>
            <a:endParaRPr lang="en-US" sz="1000" dirty="0"/>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Sleep stages, bedtime and interruptions</a:t>
            </a:r>
            <a:endParaRPr lang="en-US" sz="1000" dirty="0"/>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Steps, activity and workouts</a:t>
            </a:r>
            <a:endParaRPr lang="en-US" sz="1000" dirty="0"/>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Sleep score: Apple's, or ours from the same inputs</a:t>
            </a:r>
            <a:endParaRPr lang="en-US" sz="1000" dirty="0"/>
          </a:p>
        </p:txBody>
      </p:sp>
      <p:sp>
        <p:nvSpPr>
          <p:cNvPr id="13" name="Text 9"/>
          <p:cNvSpPr txBox="1"/>
          <p:nvPr/>
        </p:nvSpPr>
        <p:spPr>
          <a:xfrm>
            <a:off x="2343150" y="2367280"/>
            <a:ext cx="177800" cy="635000"/>
          </a:xfrm>
          <a:prstGeom prst="rect">
            <a:avLst/>
          </a:prstGeom>
          <a:noFill/>
          <a:ln/>
        </p:spPr>
        <p:txBody>
          <a:bodyPr wrap="square" lIns="0" tIns="0" rIns="0" bIns="0" rtlCol="0" anchor="ctr"/>
          <a:lstStyle/>
          <a:p>
            <a:pPr marL="0" indent="0" algn="ctr">
              <a:buNone/>
            </a:pPr>
            <a:r>
              <a:rPr lang="en-US" sz="2400" dirty="0">
                <a:solidFill>
                  <a:srgbClr val="6E7291"/>
                </a:solidFill>
                <a:latin typeface="Calibri" pitchFamily="34" charset="0"/>
                <a:ea typeface="Calibri" pitchFamily="34" charset="-122"/>
                <a:cs typeface="Calibri" pitchFamily="34" charset="-120"/>
              </a:rPr>
              <a:t>+</a:t>
            </a:r>
            <a:endParaRPr lang="en-US" sz="4000" dirty="0"/>
          </a:p>
        </p:txBody>
      </p:sp>
      <p:sp>
        <p:nvSpPr>
          <p:cNvPr id="20" name="Card Maps"/>
          <p:cNvSpPr/>
          <p:nvPr/>
        </p:nvSpPr>
        <p:spPr>
          <a:xfrm>
            <a:off x="4660900" y="1280160"/>
            <a:ext cx="1962150" cy="2809240"/>
          </a:xfrm>
          <a:prstGeom prst="roundRect">
            <a:avLst>
              <a:gd name="adj" fmla="val 3279"/>
            </a:avLst>
          </a:prstGeom>
          <a:solidFill>
            <a:srgbClr val="F1F2FA"/>
          </a:solidFill>
          <a:ln w="12700">
            <a:solidFill>
              <a:srgbClr val="F1F2FA"/>
            </a:solidFill>
            <a:prstDash val="solid"/>
          </a:ln>
        </p:spPr>
        <p:txBody>
          <a:bodyPr/>
          <a:lstStyle/>
          <a:p>
            <a:endParaRPr lang="sv-SE"/>
          </a:p>
        </p:txBody>
      </p:sp>
      <p:sp>
        <p:nvSpPr>
          <p:cNvPr id="21" name="Circle Maps"/>
          <p:cNvSpPr/>
          <p:nvPr/>
        </p:nvSpPr>
        <p:spPr>
          <a:xfrm>
            <a:off x="4787900" y="1419860"/>
            <a:ext cx="381000" cy="381000"/>
          </a:xfrm>
          <a:prstGeom prst="ellipse">
            <a:avLst/>
          </a:prstGeom>
          <a:solidFill>
            <a:srgbClr val="FFE3DE"/>
          </a:solidFill>
          <a:ln w="12700">
            <a:solidFill>
              <a:srgbClr val="FFE3DE"/>
            </a:solidFill>
            <a:prstDash val="solid"/>
          </a:ln>
        </p:spPr>
        <p:txBody>
          <a:bodyPr/>
          <a:lstStyle/>
          <a:p>
            <a:endParaRPr lang="sv-SE"/>
          </a:p>
        </p:txBody>
      </p:sp>
      <p:sp>
        <p:nvSpPr>
          <p:cNvPr id="22" name="Header Maps"/>
          <p:cNvSpPr txBox="1"/>
          <p:nvPr/>
        </p:nvSpPr>
        <p:spPr>
          <a:xfrm>
            <a:off x="5257800" y="1419860"/>
            <a:ext cx="1289050" cy="381000"/>
          </a:xfrm>
          <a:prstGeom prst="rect">
            <a:avLst/>
          </a:prstGeom>
          <a:noFill/>
          <a:ln/>
        </p:spPr>
        <p:txBody>
          <a:bodyPr wrap="square" lIns="0" tIns="0" rIns="0" bIns="0" rtlCol="0" anchor="ctr"/>
          <a:lstStyle/>
          <a:p>
            <a:pPr marL="0" indent="0">
              <a:buNone/>
            </a:pPr>
            <a:r>
              <a:rPr lang="en-US" sz="1200" b="1" dirty="0">
                <a:solidFill>
                  <a:srgbClr val="1D2247"/>
                </a:solidFill>
                <a:latin typeface="Calibri" pitchFamily="34" charset="0"/>
                <a:ea typeface="Calibri" pitchFamily="34" charset="-122"/>
                <a:cs typeface="Calibri" pitchFamily="34" charset="-120"/>
              </a:rPr>
              <a:t>From Google Maps</a:t>
            </a:r>
          </a:p>
        </p:txBody>
      </p:sp>
      <p:sp>
        <p:nvSpPr>
          <p:cNvPr id="23" name="Bullets Maps"/>
          <p:cNvSpPr txBox="1"/>
          <p:nvPr/>
        </p:nvSpPr>
        <p:spPr>
          <a:xfrm>
            <a:off x="4787900" y="1940560"/>
            <a:ext cx="1733550" cy="2047240"/>
          </a:xfrm>
          <a:prstGeom prst="rect">
            <a:avLst/>
          </a:prstGeom>
          <a:noFill/>
          <a:ln/>
        </p:spPr>
        <p:txBody>
          <a:bodyPr wrap="square" lIns="0" tIns="0" rIns="0" bIns="0" rtlCol="0" anchor="t"/>
          <a:lstStyle/>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Where you actually were, event by event</a:t>
            </a:r>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Whether a booked event really happened</a:t>
            </a:r>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Time at the office, at home and in transit</a:t>
            </a:r>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Late nights out and when you got home</a:t>
            </a:r>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Commute length and travel days</a:t>
            </a:r>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When calendar and location disagree, the app asks you</a:t>
            </a:r>
          </a:p>
        </p:txBody>
      </p:sp>
      <p:sp>
        <p:nvSpPr>
          <p:cNvPr id="24" name="Plus 2"/>
          <p:cNvSpPr txBox="1"/>
          <p:nvPr/>
        </p:nvSpPr>
        <p:spPr>
          <a:xfrm>
            <a:off x="4483100" y="2367280"/>
            <a:ext cx="177800" cy="635000"/>
          </a:xfrm>
          <a:prstGeom prst="rect">
            <a:avLst/>
          </a:prstGeom>
          <a:noFill/>
          <a:ln/>
        </p:spPr>
        <p:txBody>
          <a:bodyPr wrap="square" lIns="0" tIns="0" rIns="0" bIns="0" rtlCol="0" anchor="ctr"/>
          <a:lstStyle/>
          <a:p>
            <a:pPr marL="0" indent="0" algn="ctr">
              <a:buNone/>
            </a:pPr>
            <a:r>
              <a:rPr lang="en-US" sz="2400" dirty="0">
                <a:solidFill>
                  <a:srgbClr val="6E7291"/>
                </a:solidFill>
                <a:latin typeface="Calibri" pitchFamily="34" charset="0"/>
                <a:ea typeface="Calibri" pitchFamily="34" charset="-122"/>
                <a:cs typeface="Calibri" pitchFamily="34" charset="-120"/>
              </a:rPr>
              <a:t>+</a:t>
            </a:r>
          </a:p>
        </p:txBody>
      </p:sp>
      <p:sp>
        <p:nvSpPr>
          <p:cNvPr id="40" name="Card AI"/>
          <p:cNvSpPr/>
          <p:nvPr/>
        </p:nvSpPr>
        <p:spPr>
          <a:xfrm>
            <a:off x="6800850" y="1280160"/>
            <a:ext cx="1962150" cy="2809240"/>
          </a:xfrm>
          <a:prstGeom prst="roundRect">
            <a:avLst>
              <a:gd name="adj" fmla="val 3279"/>
            </a:avLst>
          </a:prstGeom>
          <a:solidFill>
            <a:srgbClr val="F1F2FA"/>
          </a:solidFill>
          <a:ln w="12700">
            <a:solidFill>
              <a:srgbClr val="F1F2FA"/>
            </a:solidFill>
            <a:prstDash val="solid"/>
          </a:ln>
        </p:spPr>
        <p:txBody>
          <a:bodyPr/>
          <a:lstStyle/>
          <a:p>
            <a:endParaRPr lang="sv-SE"/>
          </a:p>
        </p:txBody>
      </p:sp>
      <p:sp>
        <p:nvSpPr>
          <p:cNvPr id="41" name="Circle AI"/>
          <p:cNvSpPr/>
          <p:nvPr/>
        </p:nvSpPr>
        <p:spPr>
          <a:xfrm>
            <a:off x="6927850" y="1419860"/>
            <a:ext cx="381000" cy="381000"/>
          </a:xfrm>
          <a:prstGeom prst="ellipse">
            <a:avLst/>
          </a:prstGeom>
          <a:solidFill>
            <a:srgbClr val="FFE3DE"/>
          </a:solidFill>
          <a:ln w="12700">
            <a:solidFill>
              <a:srgbClr val="FFE3DE"/>
            </a:solidFill>
            <a:prstDash val="solid"/>
          </a:ln>
        </p:spPr>
        <p:txBody>
          <a:bodyPr/>
          <a:lstStyle/>
          <a:p>
            <a:endParaRPr lang="sv-SE"/>
          </a:p>
        </p:txBody>
      </p:sp>
      <p:sp>
        <p:nvSpPr>
          <p:cNvPr id="42" name="Header AI"/>
          <p:cNvSpPr txBox="1"/>
          <p:nvPr/>
        </p:nvSpPr>
        <p:spPr>
          <a:xfrm>
            <a:off x="7397750" y="1419860"/>
            <a:ext cx="1289050" cy="381000"/>
          </a:xfrm>
          <a:prstGeom prst="rect">
            <a:avLst/>
          </a:prstGeom>
          <a:noFill/>
          <a:ln/>
        </p:spPr>
        <p:txBody>
          <a:bodyPr wrap="square" lIns="0" tIns="0" rIns="0" bIns="0" rtlCol="0" anchor="ctr"/>
          <a:lstStyle/>
          <a:p>
            <a:pPr marL="0" indent="0">
              <a:buNone/>
            </a:pPr>
            <a:r>
              <a:rPr lang="en-US" sz="1200" b="1" dirty="0">
                <a:solidFill>
                  <a:srgbClr val="1D2247"/>
                </a:solidFill>
                <a:latin typeface="Calibri" pitchFamily="34" charset="0"/>
                <a:ea typeface="Calibri" pitchFamily="34" charset="-122"/>
                <a:cs typeface="Calibri" pitchFamily="34" charset="-120"/>
              </a:rPr>
              <a:t>Reasoning AI</a:t>
            </a:r>
          </a:p>
        </p:txBody>
      </p:sp>
      <p:sp>
        <p:nvSpPr>
          <p:cNvPr id="43" name="Bullets AI"/>
          <p:cNvSpPr txBox="1"/>
          <p:nvPr/>
        </p:nvSpPr>
        <p:spPr>
          <a:xfrm>
            <a:off x="6927850" y="1940560"/>
            <a:ext cx="1733550" cy="2047240"/>
          </a:xfrm>
          <a:prstGeom prst="rect">
            <a:avLst/>
          </a:prstGeom>
          <a:noFill/>
          <a:ln/>
        </p:spPr>
        <p:txBody>
          <a:bodyPr wrap="square" lIns="0" tIns="0" rIns="0" bIns="0" rtlCol="0" anchor="t"/>
          <a:lstStyle/>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Uses the calendar as context for every change in your biometrics</a:t>
            </a:r>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Reasons about whether the event caused the change, or something else did</a:t>
            </a:r>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Cross-checks with Maps: did the event really happen?</a:t>
            </a:r>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Asks you when the signals disagree: "Did you actually do this?"</a:t>
            </a:r>
          </a:p>
          <a:p>
            <a:pPr marL="152400" indent="-152400">
              <a:spcAft>
                <a:spcPts val="250"/>
              </a:spcAft>
              <a:buSzPct val="100000"/>
              <a:buChar char="•"/>
            </a:pPr>
            <a:r>
              <a:rPr lang="en-US" sz="1000" dirty="0">
                <a:solidFill>
                  <a:srgbClr val="1D2247"/>
                </a:solidFill>
                <a:latin typeface="Calibri" pitchFamily="34" charset="0"/>
                <a:ea typeface="Calibri" pitchFamily="34" charset="-122"/>
                <a:cs typeface="Calibri" pitchFamily="34" charset="-120"/>
              </a:rPr>
              <a:t>Ranks your habits by their effect over weeks</a:t>
            </a:r>
          </a:p>
        </p:txBody>
      </p:sp>
      <p:sp>
        <p:nvSpPr>
          <p:cNvPr id="44" name="Plus 3"/>
          <p:cNvSpPr txBox="1"/>
          <p:nvPr/>
        </p:nvSpPr>
        <p:spPr>
          <a:xfrm>
            <a:off x="6623050" y="2367280"/>
            <a:ext cx="177800" cy="635000"/>
          </a:xfrm>
          <a:prstGeom prst="rect">
            <a:avLst/>
          </a:prstGeom>
          <a:noFill/>
          <a:ln/>
        </p:spPr>
        <p:txBody>
          <a:bodyPr wrap="square" lIns="0" tIns="0" rIns="0" bIns="0" rtlCol="0" anchor="ctr"/>
          <a:lstStyle/>
          <a:p>
            <a:pPr marL="0" indent="0" algn="ctr">
              <a:buNone/>
            </a:pPr>
            <a:r>
              <a:rPr lang="en-US" sz="2400" dirty="0">
                <a:solidFill>
                  <a:srgbClr val="6E7291"/>
                </a:solidFill>
                <a:latin typeface="Calibri" pitchFamily="34" charset="0"/>
                <a:ea typeface="Calibri" pitchFamily="34" charset="-122"/>
                <a:cs typeface="Calibri" pitchFamily="34" charset="-120"/>
              </a:rPr>
              <a:t>+</a:t>
            </a:r>
          </a:p>
        </p:txBody>
      </p:sp>
      <p:sp>
        <p:nvSpPr>
          <p:cNvPr id="14" name="Shape 10"/>
          <p:cNvSpPr/>
          <p:nvPr/>
        </p:nvSpPr>
        <p:spPr>
          <a:xfrm>
            <a:off x="457200" y="4241800"/>
            <a:ext cx="8229600" cy="508000"/>
          </a:xfrm>
          <a:prstGeom prst="roundRect">
            <a:avLst>
              <a:gd name="adj" fmla="val 32258"/>
            </a:avLst>
          </a:prstGeom>
          <a:solidFill>
            <a:srgbClr val="FF6B5B"/>
          </a:solidFill>
          <a:ln w="12700">
            <a:solidFill>
              <a:srgbClr val="FF6B5B"/>
            </a:solidFill>
            <a:prstDash val="solid"/>
          </a:ln>
        </p:spPr>
        <p:txBody>
          <a:bodyPr/>
          <a:lstStyle/>
          <a:p>
            <a:endParaRPr lang="sv-SE"/>
          </a:p>
        </p:txBody>
      </p:sp>
      <p:sp>
        <p:nvSpPr>
          <p:cNvPr id="15" name="Text 11"/>
          <p:cNvSpPr txBox="1"/>
          <p:nvPr/>
        </p:nvSpPr>
        <p:spPr>
          <a:xfrm>
            <a:off x="640080" y="4241800"/>
            <a:ext cx="7863840" cy="5080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First outcome we explain: your sleep score the next night.</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Then recovery markers such as overnight HRV and resting heart rate.</a:t>
            </a:r>
            <a:endParaRPr lang="en-US" sz="1250" dirty="0"/>
          </a:p>
        </p:txBody>
      </p:sp>
      <p:sp>
        <p:nvSpPr>
          <p:cNvPr id="17" name="Text 13"/>
          <p:cNvSpPr txBox="1"/>
          <p:nvPr/>
        </p:nvSpPr>
        <p:spPr>
          <a:xfrm>
            <a:off x="8138160" y="4864100"/>
            <a:ext cx="548640" cy="152400"/>
          </a:xfrm>
          <a:prstGeom prst="rect">
            <a:avLst/>
          </a:prstGeom>
          <a:noFill/>
          <a:ln/>
        </p:spPr>
        <p:txBody>
          <a:bodyPr wrap="square" lIns="0" tIns="0" rIns="0" bIns="0" rtlCol="0" anchor="ctr"/>
          <a:lstStyle/>
          <a:p>
            <a:pPr marL="0" indent="0" algn="r">
              <a:buNone/>
            </a:pPr>
            <a:r>
              <a:rPr lang="en-US" sz="900" dirty="0">
                <a:solidFill>
                  <a:srgbClr val="6E7291"/>
                </a:solidFill>
                <a:latin typeface="Calibri" pitchFamily="34" charset="0"/>
                <a:ea typeface="Calibri" pitchFamily="34" charset="-122"/>
                <a:cs typeface="Calibri" pitchFamily="34" charset="-120"/>
              </a:rPr>
              <a:t>4</a:t>
            </a:r>
            <a:endParaRPr lang="en-US" sz="900" dirty="0"/>
          </a:p>
        </p:txBody>
      </p:sp>
      <p:pic>
        <p:nvPicPr>
          <p:cNvPr id="25" name="Graphic 25" descr="Location marke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76800" y="1508760"/>
            <a:ext cx="203200" cy="203200"/>
          </a:xfrm>
          <a:prstGeom prst="rect">
            <a:avLst/>
          </a:prstGeom>
        </p:spPr>
      </p:pic>
      <p:pic>
        <p:nvPicPr>
          <p:cNvPr id="45" name="Graphic 45" descr="Reasoning AI"/>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16750" y="1508760"/>
            <a:ext cx="203200" cy="203200"/>
          </a:xfrm>
          <a:prstGeom prst="rect">
            <a:avLst/>
          </a:prstGeom>
        </p:spPr>
      </p:pic>
    </p:spTree>
    <p:extLst>
      <p:ext uri="{BB962C8B-B14F-4D97-AF65-F5344CB8AC3E}">
        <p14:creationId xmlns:p14="http://schemas.microsoft.com/office/powerpoint/2010/main" val="2887551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D2247"/>
        </a:solidFill>
        <a:effectLst/>
      </p:bgPr>
    </p:bg>
    <p:spTree>
      <p:nvGrpSpPr>
        <p:cNvPr id="1" name=""/>
        <p:cNvGrpSpPr/>
        <p:nvPr/>
      </p:nvGrpSpPr>
      <p:grpSpPr>
        <a:xfrm>
          <a:off x="0" y="0"/>
          <a:ext cx="0" cy="0"/>
          <a:chOff x="0" y="0"/>
          <a:chExt cx="0" cy="0"/>
        </a:xfrm>
      </p:grpSpPr>
      <p:sp>
        <p:nvSpPr>
          <p:cNvPr id="2" name="Text 0"/>
          <p:cNvSpPr txBox="1"/>
          <p:nvPr/>
        </p:nvSpPr>
        <p:spPr>
          <a:xfrm>
            <a:off x="457200" y="384048"/>
            <a:ext cx="8229600" cy="777240"/>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What it could look like</a:t>
            </a:r>
            <a:endParaRPr lang="en-US" sz="3000" dirty="0"/>
          </a:p>
        </p:txBody>
      </p:sp>
      <p:sp>
        <p:nvSpPr>
          <p:cNvPr id="3" name="Shape 1"/>
          <p:cNvSpPr/>
          <p:nvPr/>
        </p:nvSpPr>
        <p:spPr>
          <a:xfrm>
            <a:off x="457200" y="1234440"/>
            <a:ext cx="3977640" cy="3246120"/>
          </a:xfrm>
          <a:prstGeom prst="roundRect">
            <a:avLst>
              <a:gd name="adj" fmla="val 2817"/>
            </a:avLst>
          </a:prstGeom>
          <a:solidFill>
            <a:srgbClr val="2B3161"/>
          </a:solidFill>
          <a:ln w="12700">
            <a:solidFill>
              <a:srgbClr val="2B3161"/>
            </a:solidFill>
            <a:prstDash val="solid"/>
          </a:ln>
        </p:spPr>
        <p:txBody>
          <a:bodyPr/>
          <a:lstStyle/>
          <a:p>
            <a:endParaRPr lang="sv-SE"/>
          </a:p>
        </p:txBody>
      </p:sp>
      <p:sp>
        <p:nvSpPr>
          <p:cNvPr id="4" name="Text 2"/>
          <p:cNvSpPr txBox="1"/>
          <p:nvPr/>
        </p:nvSpPr>
        <p:spPr>
          <a:xfrm>
            <a:off x="685800" y="1371600"/>
            <a:ext cx="2743200" cy="228600"/>
          </a:xfrm>
          <a:prstGeom prst="rect">
            <a:avLst/>
          </a:prstGeom>
          <a:noFill/>
          <a:ln/>
        </p:spPr>
        <p:txBody>
          <a:bodyPr wrap="square" lIns="0" tIns="0" rIns="0" bIns="0" rtlCol="0" anchor="ctr"/>
          <a:lstStyle/>
          <a:p>
            <a:pPr marL="0" indent="0">
              <a:buNone/>
            </a:pPr>
            <a:r>
              <a:rPr lang="en-US" sz="950" kern="0" spc="200" dirty="0">
                <a:solidFill>
                  <a:srgbClr val="AEB4EE"/>
                </a:solidFill>
                <a:latin typeface="Calibri" pitchFamily="34" charset="0"/>
                <a:ea typeface="Calibri" pitchFamily="34" charset="-122"/>
                <a:cs typeface="Calibri" pitchFamily="34" charset="-120"/>
              </a:rPr>
              <a:t>MORNING REPORT</a:t>
            </a:r>
            <a:endParaRPr lang="en-US" sz="950" dirty="0"/>
          </a:p>
        </p:txBody>
      </p:sp>
      <p:graphicFrame>
        <p:nvGraphicFramePr>
          <p:cNvPr id="5" name="Chart 0"/>
          <p:cNvGraphicFramePr/>
          <p:nvPr/>
        </p:nvGraphicFramePr>
        <p:xfrm>
          <a:off x="548640" y="1645920"/>
          <a:ext cx="1737360" cy="1737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48640" y="1645920"/>
            <a:ext cx="1737360" cy="1737360"/>
          </a:xfrm>
          <a:prstGeom prst="rect">
            <a:avLst/>
          </a:prstGeom>
          <a:noFill/>
          <a:ln/>
        </p:spPr>
        <p:txBody>
          <a:bodyPr wrap="square" lIns="0" tIns="0" rIns="0" bIns="0" rtlCol="0" anchor="ctr"/>
          <a:lstStyle/>
          <a:p>
            <a:pPr marL="0" indent="0" algn="ctr">
              <a:lnSpc>
                <a:spcPct val="90000"/>
              </a:lnSpc>
              <a:buNone/>
            </a:pPr>
            <a:r>
              <a:rPr lang="en-US" sz="2600" b="1" dirty="0">
                <a:solidFill>
                  <a:srgbClr val="FFFFFF"/>
                </a:solidFill>
                <a:latin typeface="Calibri" pitchFamily="34" charset="0"/>
                <a:ea typeface="Calibri" pitchFamily="34" charset="-122"/>
                <a:cs typeface="Calibri" pitchFamily="34" charset="-120"/>
              </a:rPr>
              <a:t>68</a:t>
            </a:r>
            <a:endParaRPr lang="en-US" sz="2600" dirty="0"/>
          </a:p>
          <a:p>
            <a:pPr marL="0" indent="0" algn="ctr">
              <a:lnSpc>
                <a:spcPct val="90000"/>
              </a:lnSpc>
              <a:buNone/>
            </a:pPr>
            <a:r>
              <a:rPr lang="en-US" sz="850" dirty="0">
                <a:solidFill>
                  <a:srgbClr val="AEB4EE"/>
                </a:solidFill>
                <a:latin typeface="Calibri" pitchFamily="34" charset="0"/>
                <a:ea typeface="Calibri" pitchFamily="34" charset="-122"/>
                <a:cs typeface="Calibri" pitchFamily="34" charset="-120"/>
              </a:rPr>
              <a:t>sleep score</a:t>
            </a:r>
            <a:endParaRPr lang="en-US" sz="2600" dirty="0"/>
          </a:p>
        </p:txBody>
      </p:sp>
      <p:sp>
        <p:nvSpPr>
          <p:cNvPr id="7" name="Text 4"/>
          <p:cNvSpPr txBox="1"/>
          <p:nvPr/>
        </p:nvSpPr>
        <p:spPr>
          <a:xfrm>
            <a:off x="2423160" y="1691640"/>
            <a:ext cx="192024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Three likely causes</a:t>
            </a:r>
            <a:endParaRPr lang="en-US" sz="1300" dirty="0"/>
          </a:p>
        </p:txBody>
      </p:sp>
      <p:sp>
        <p:nvSpPr>
          <p:cNvPr id="8" name="Text 5"/>
          <p:cNvSpPr txBox="1"/>
          <p:nvPr/>
        </p:nvSpPr>
        <p:spPr>
          <a:xfrm>
            <a:off x="2423160" y="2011680"/>
            <a:ext cx="1874520" cy="164592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050" dirty="0">
                <a:solidFill>
                  <a:srgbClr val="AEB4EE"/>
                </a:solidFill>
                <a:latin typeface="Calibri" pitchFamily="34" charset="0"/>
                <a:ea typeface="Calibri" pitchFamily="34" charset="-122"/>
                <a:cs typeface="Calibri" pitchFamily="34" charset="-120"/>
              </a:rPr>
              <a:t>Meeting until 20:30. Heart rate 12 bpm above your evening norm until 22:00.</a:t>
            </a:r>
            <a:endParaRPr lang="en-US" sz="1050" dirty="0"/>
          </a:p>
          <a:p>
            <a:pPr marL="342900" indent="-342900">
              <a:spcAft>
                <a:spcPts val="500"/>
              </a:spcAft>
              <a:buSzPct val="100000"/>
              <a:buFont typeface="+mj-lt"/>
              <a:buAutoNum type="arabicPeriod"/>
            </a:pPr>
            <a:r>
              <a:rPr lang="en-US" sz="1050" dirty="0">
                <a:solidFill>
                  <a:srgbClr val="AEB4EE"/>
                </a:solidFill>
                <a:latin typeface="Calibri" pitchFamily="34" charset="0"/>
                <a:ea typeface="Calibri" pitchFamily="34" charset="-122"/>
                <a:cs typeface="Calibri" pitchFamily="34" charset="-120"/>
              </a:rPr>
              <a:t>Six back-to-back meetings 13:00 to 17:00. Overnight HRV 14 % below average.</a:t>
            </a:r>
            <a:endParaRPr lang="en-US" sz="1050" dirty="0"/>
          </a:p>
          <a:p>
            <a:pPr marL="342900" indent="-342900">
              <a:spcAft>
                <a:spcPts val="500"/>
              </a:spcAft>
              <a:buSzPct val="100000"/>
              <a:buFont typeface="+mj-lt"/>
              <a:buAutoNum type="arabicPeriod"/>
            </a:pPr>
            <a:r>
              <a:rPr lang="en-US" sz="1050" dirty="0">
                <a:solidFill>
                  <a:srgbClr val="AEB4EE"/>
                </a:solidFill>
                <a:latin typeface="Calibri" pitchFamily="34" charset="0"/>
                <a:ea typeface="Calibri" pitchFamily="34" charset="-122"/>
                <a:cs typeface="Calibri" pitchFamily="34" charset="-120"/>
              </a:rPr>
              <a:t>Bedtime 55 minutes later than usual.</a:t>
            </a:r>
            <a:endParaRPr lang="en-US" sz="1050" dirty="0"/>
          </a:p>
        </p:txBody>
      </p:sp>
      <p:sp>
        <p:nvSpPr>
          <p:cNvPr id="9" name="Shape 6"/>
          <p:cNvSpPr/>
          <p:nvPr/>
        </p:nvSpPr>
        <p:spPr>
          <a:xfrm>
            <a:off x="685800" y="3913632"/>
            <a:ext cx="3520440" cy="384048"/>
          </a:xfrm>
          <a:prstGeom prst="roundRect">
            <a:avLst>
              <a:gd name="adj" fmla="val 50000"/>
            </a:avLst>
          </a:prstGeom>
          <a:solidFill>
            <a:srgbClr val="FF6B5B"/>
          </a:solidFill>
          <a:ln w="12700">
            <a:solidFill>
              <a:srgbClr val="FF6B5B"/>
            </a:solidFill>
            <a:prstDash val="solid"/>
          </a:ln>
        </p:spPr>
        <p:txBody>
          <a:bodyPr/>
          <a:lstStyle/>
          <a:p>
            <a:endParaRPr lang="sv-SE"/>
          </a:p>
        </p:txBody>
      </p:sp>
      <p:sp>
        <p:nvSpPr>
          <p:cNvPr id="10" name="Text 7"/>
          <p:cNvSpPr txBox="1"/>
          <p:nvPr/>
        </p:nvSpPr>
        <p:spPr>
          <a:xfrm>
            <a:off x="685800" y="3913632"/>
            <a:ext cx="352044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Suggestion: protect 21:00 to 22:00 tonight. Add to calendar</a:t>
            </a:r>
            <a:endParaRPr lang="en-US" sz="1050" dirty="0"/>
          </a:p>
        </p:txBody>
      </p:sp>
      <p:sp>
        <p:nvSpPr>
          <p:cNvPr id="11" name="Shape 8"/>
          <p:cNvSpPr/>
          <p:nvPr/>
        </p:nvSpPr>
        <p:spPr>
          <a:xfrm>
            <a:off x="4709160" y="1234440"/>
            <a:ext cx="3977640" cy="3246120"/>
          </a:xfrm>
          <a:prstGeom prst="roundRect">
            <a:avLst>
              <a:gd name="adj" fmla="val 2817"/>
            </a:avLst>
          </a:prstGeom>
          <a:solidFill>
            <a:srgbClr val="2B3161"/>
          </a:solidFill>
          <a:ln w="12700">
            <a:solidFill>
              <a:srgbClr val="2B3161"/>
            </a:solidFill>
            <a:prstDash val="solid"/>
          </a:ln>
        </p:spPr>
        <p:txBody>
          <a:bodyPr/>
          <a:lstStyle/>
          <a:p>
            <a:endParaRPr lang="sv-SE"/>
          </a:p>
        </p:txBody>
      </p:sp>
      <p:sp>
        <p:nvSpPr>
          <p:cNvPr id="12" name="Text 9"/>
          <p:cNvSpPr txBox="1"/>
          <p:nvPr/>
        </p:nvSpPr>
        <p:spPr>
          <a:xfrm>
            <a:off x="4937760" y="1371600"/>
            <a:ext cx="2743200" cy="228600"/>
          </a:xfrm>
          <a:prstGeom prst="rect">
            <a:avLst/>
          </a:prstGeom>
          <a:noFill/>
          <a:ln/>
        </p:spPr>
        <p:txBody>
          <a:bodyPr wrap="square" lIns="0" tIns="0" rIns="0" bIns="0" rtlCol="0" anchor="ctr"/>
          <a:lstStyle/>
          <a:p>
            <a:pPr marL="0" indent="0">
              <a:buNone/>
            </a:pPr>
            <a:r>
              <a:rPr lang="en-US" sz="950" kern="0" spc="200" dirty="0">
                <a:solidFill>
                  <a:srgbClr val="AEB4EE"/>
                </a:solidFill>
                <a:latin typeface="Calibri" pitchFamily="34" charset="0"/>
                <a:ea typeface="Calibri" pitchFamily="34" charset="-122"/>
                <a:cs typeface="Calibri" pitchFamily="34" charset="-120"/>
              </a:rPr>
              <a:t>WEEKLY INSIGHT</a:t>
            </a:r>
            <a:endParaRPr lang="en-US" sz="950" dirty="0"/>
          </a:p>
        </p:txBody>
      </p:sp>
      <p:graphicFrame>
        <p:nvGraphicFramePr>
          <p:cNvPr id="13" name="Chart 1"/>
          <p:cNvGraphicFramePr/>
          <p:nvPr/>
        </p:nvGraphicFramePr>
        <p:xfrm>
          <a:off x="4846320" y="1600200"/>
          <a:ext cx="3703320" cy="224028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 10"/>
          <p:cNvSpPr txBox="1"/>
          <p:nvPr/>
        </p:nvSpPr>
        <p:spPr>
          <a:xfrm>
            <a:off x="4937760" y="3858768"/>
            <a:ext cx="3566160" cy="548640"/>
          </a:xfrm>
          <a:prstGeom prst="rect">
            <a:avLst/>
          </a:prstGeom>
          <a:noFill/>
          <a:ln/>
        </p:spPr>
        <p:txBody>
          <a:bodyPr wrap="square" lIns="0" tIns="0" rIns="0" bIns="0" rtlCol="0" anchor="t"/>
          <a:lstStyle/>
          <a:p>
            <a:pPr marL="0" indent="0">
              <a:buNone/>
            </a:pPr>
            <a:r>
              <a:rPr lang="en-US" sz="1050" dirty="0">
                <a:solidFill>
                  <a:srgbClr val="AEB4EE"/>
                </a:solidFill>
                <a:latin typeface="Calibri" pitchFamily="34" charset="0"/>
                <a:ea typeface="Calibri" pitchFamily="34" charset="-122"/>
                <a:cs typeface="Calibri" pitchFamily="34" charset="-120"/>
              </a:rPr>
              <a:t>Days with five or more meetings scored 14 points lower than calm days. Biggest single factor: meetings ending after 19:00.</a:t>
            </a:r>
            <a:endParaRPr lang="en-US" sz="1050" dirty="0"/>
          </a:p>
        </p:txBody>
      </p:sp>
      <p:sp>
        <p:nvSpPr>
          <p:cNvPr id="15" name="Text 11"/>
          <p:cNvSpPr txBox="1"/>
          <p:nvPr/>
        </p:nvSpPr>
        <p:spPr>
          <a:xfrm>
            <a:off x="457200" y="4572000"/>
            <a:ext cx="8229600" cy="201168"/>
          </a:xfrm>
          <a:prstGeom prst="rect">
            <a:avLst/>
          </a:prstGeom>
          <a:noFill/>
          <a:ln/>
        </p:spPr>
        <p:txBody>
          <a:bodyPr wrap="square" lIns="0" tIns="0" rIns="0" bIns="0" rtlCol="0" anchor="ctr"/>
          <a:lstStyle/>
          <a:p>
            <a:pPr marL="0" indent="0">
              <a:buNone/>
            </a:pPr>
            <a:r>
              <a:rPr lang="en-US" sz="900" i="1" dirty="0">
                <a:solidFill>
                  <a:srgbClr val="AEB4EE"/>
                </a:solidFill>
                <a:latin typeface="Calibri" pitchFamily="34" charset="0"/>
                <a:ea typeface="Calibri" pitchFamily="34" charset="-122"/>
                <a:cs typeface="Calibri" pitchFamily="34" charset="-120"/>
              </a:rPr>
              <a:t>Illustrative mock-up with made-up numbers, not measured data.</a:t>
            </a:r>
            <a:endParaRPr lang="en-US" sz="900" dirty="0"/>
          </a:p>
        </p:txBody>
      </p:sp>
      <p:sp>
        <p:nvSpPr>
          <p:cNvPr id="17" name="Text 1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AEB4E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84048"/>
            <a:ext cx="8229600" cy="777240"/>
          </a:xfrm>
          <a:prstGeom prst="rect">
            <a:avLst/>
          </a:prstGeom>
          <a:noFill/>
          <a:ln/>
        </p:spPr>
        <p:txBody>
          <a:bodyPr wrap="square" lIns="0" tIns="0" rIns="0" bIns="0" rtlCol="0" anchor="t"/>
          <a:lstStyle/>
          <a:p>
            <a:pPr marL="0" indent="0">
              <a:buNone/>
            </a:pPr>
            <a:r>
              <a:rPr lang="en-US" sz="3000" b="1" dirty="0">
                <a:solidFill>
                  <a:srgbClr val="1D2247"/>
                </a:solidFill>
                <a:latin typeface="Calibri" pitchFamily="34" charset="0"/>
                <a:ea typeface="Calibri" pitchFamily="34" charset="-122"/>
                <a:cs typeface="Calibri" pitchFamily="34" charset="-120"/>
              </a:rPr>
              <a:t>Where we are</a:t>
            </a:r>
            <a:endParaRPr lang="en-US" sz="3000" dirty="0"/>
          </a:p>
        </p:txBody>
      </p:sp>
      <p:sp>
        <p:nvSpPr>
          <p:cNvPr id="3" name="Shape 1"/>
          <p:cNvSpPr/>
          <p:nvPr/>
        </p:nvSpPr>
        <p:spPr>
          <a:xfrm>
            <a:off x="457200" y="1280160"/>
            <a:ext cx="2286000" cy="3337560"/>
          </a:xfrm>
          <a:prstGeom prst="roundRect">
            <a:avLst>
              <a:gd name="adj" fmla="val 4000"/>
            </a:avLst>
          </a:prstGeom>
          <a:solidFill>
            <a:srgbClr val="F1F2FA"/>
          </a:solidFill>
          <a:ln w="12700">
            <a:solidFill>
              <a:srgbClr val="F1F2FA"/>
            </a:solidFill>
            <a:prstDash val="solid"/>
          </a:ln>
        </p:spPr>
        <p:txBody>
          <a:bodyPr/>
          <a:lstStyle/>
          <a:p>
            <a:endParaRPr lang="sv-SE"/>
          </a:p>
        </p:txBody>
      </p:sp>
      <p:sp>
        <p:nvSpPr>
          <p:cNvPr id="4" name="Shape 2"/>
          <p:cNvSpPr/>
          <p:nvPr/>
        </p:nvSpPr>
        <p:spPr>
          <a:xfrm>
            <a:off x="640080" y="1463040"/>
            <a:ext cx="411480" cy="411480"/>
          </a:xfrm>
          <a:prstGeom prst="ellipse">
            <a:avLst/>
          </a:prstGeom>
          <a:solidFill>
            <a:srgbClr val="1D2247"/>
          </a:solidFill>
          <a:ln w="12700">
            <a:solidFill>
              <a:srgbClr val="1D2247"/>
            </a:solidFill>
            <a:prstDash val="solid"/>
          </a:ln>
        </p:spPr>
        <p:txBody>
          <a:bodyPr/>
          <a:lstStyle/>
          <a:p>
            <a:endParaRPr lang="sv-SE"/>
          </a:p>
        </p:txBody>
      </p:sp>
      <p:pic>
        <p:nvPicPr>
          <p:cNvPr id="5" name="Image 0" descr="preencoded.png"/>
          <p:cNvPicPr>
            <a:picLocks noChangeAspect="1"/>
          </p:cNvPicPr>
          <p:nvPr/>
        </p:nvPicPr>
        <p:blipFill>
          <a:blip r:embed="rId3"/>
          <a:stretch>
            <a:fillRect/>
          </a:stretch>
        </p:blipFill>
        <p:spPr>
          <a:xfrm>
            <a:off x="738835" y="1561795"/>
            <a:ext cx="213970" cy="213970"/>
          </a:xfrm>
          <a:prstGeom prst="rect">
            <a:avLst/>
          </a:prstGeom>
        </p:spPr>
      </p:pic>
      <p:sp>
        <p:nvSpPr>
          <p:cNvPr id="6" name="Text 3"/>
          <p:cNvSpPr txBox="1"/>
          <p:nvPr/>
        </p:nvSpPr>
        <p:spPr>
          <a:xfrm>
            <a:off x="1143000" y="1463040"/>
            <a:ext cx="1554480" cy="411480"/>
          </a:xfrm>
          <a:prstGeom prst="rect">
            <a:avLst/>
          </a:prstGeom>
          <a:noFill/>
          <a:ln/>
        </p:spPr>
        <p:txBody>
          <a:bodyPr wrap="square" lIns="0" tIns="0" rIns="0" bIns="0" rtlCol="0" anchor="ctr"/>
          <a:lstStyle/>
          <a:p>
            <a:pPr marL="0" indent="0">
              <a:buNone/>
            </a:pPr>
            <a:r>
              <a:rPr lang="en-US" sz="1350" b="1" dirty="0">
                <a:solidFill>
                  <a:srgbClr val="1D2247"/>
                </a:solidFill>
                <a:latin typeface="Calibri" pitchFamily="34" charset="0"/>
                <a:ea typeface="Calibri" pitchFamily="34" charset="-122"/>
                <a:cs typeface="Calibri" pitchFamily="34" charset="-120"/>
              </a:rPr>
              <a:t>So far</a:t>
            </a:r>
            <a:endParaRPr lang="en-US" sz="1350" dirty="0"/>
          </a:p>
        </p:txBody>
      </p:sp>
      <p:sp>
        <p:nvSpPr>
          <p:cNvPr id="7" name="Text 4"/>
          <p:cNvSpPr txBox="1"/>
          <p:nvPr/>
        </p:nvSpPr>
        <p:spPr>
          <a:xfrm>
            <a:off x="640080" y="2011680"/>
            <a:ext cx="1965960" cy="2514600"/>
          </a:xfrm>
          <a:prstGeom prst="rect">
            <a:avLst/>
          </a:prstGeom>
          <a:noFill/>
          <a:ln/>
        </p:spPr>
        <p:txBody>
          <a:bodyPr wrap="square" lIns="0" tIns="0" rIns="0" bIns="0" rtlCol="0" anchor="t"/>
          <a:lstStyle/>
          <a:p>
            <a:pPr marL="152400" indent="-152400">
              <a:spcAft>
                <a:spcPts val="800"/>
              </a:spcAft>
              <a:buSzPct val="100000"/>
              <a:buChar char="•"/>
            </a:pPr>
            <a:r>
              <a:rPr lang="en-US" sz="1100" dirty="0">
                <a:solidFill>
                  <a:srgbClr val="1D2247"/>
                </a:solidFill>
                <a:latin typeface="Calibri" pitchFamily="34" charset="0"/>
                <a:ea typeface="Calibri" pitchFamily="34" charset="-122"/>
                <a:cs typeface="Calibri" pitchFamily="34" charset="-120"/>
              </a:rPr>
              <a:t>Problem framed, first outcome chosen: sleep score</a:t>
            </a:r>
            <a:endParaRPr lang="en-US" sz="1100" dirty="0"/>
          </a:p>
          <a:p>
            <a:pPr marL="152400" indent="-152400">
              <a:spcAft>
                <a:spcPts val="800"/>
              </a:spcAft>
              <a:buSzPct val="100000"/>
              <a:buChar char="•"/>
            </a:pPr>
            <a:r>
              <a:rPr lang="en-US" sz="1100" dirty="0">
                <a:solidFill>
                  <a:srgbClr val="1D2247"/>
                </a:solidFill>
                <a:latin typeface="Calibri" pitchFamily="34" charset="0"/>
                <a:ea typeface="Calibri" pitchFamily="34" charset="-122"/>
                <a:cs typeface="Calibri" pitchFamily="34" charset="-120"/>
              </a:rPr>
              <a:t>Mapped what HealthKit can give us beyond heart rate</a:t>
            </a:r>
            <a:endParaRPr lang="en-US" sz="1100" dirty="0"/>
          </a:p>
          <a:p>
            <a:pPr marL="152400" indent="-152400">
              <a:spcAft>
                <a:spcPts val="800"/>
              </a:spcAft>
              <a:buSzPct val="100000"/>
              <a:buChar char="•"/>
            </a:pPr>
            <a:r>
              <a:rPr lang="en-US" sz="1100" dirty="0">
                <a:solidFill>
                  <a:srgbClr val="1D2247"/>
                </a:solidFill>
                <a:latin typeface="Calibri" pitchFamily="34" charset="0"/>
                <a:ea typeface="Calibri" pitchFamily="34" charset="-122"/>
                <a:cs typeface="Calibri" pitchFamily="34" charset="-120"/>
              </a:rPr>
              <a:t>Two routes to the calendar identified: Google Calendar API or EventKit</a:t>
            </a:r>
            <a:endParaRPr lang="en-US" sz="1100" dirty="0"/>
          </a:p>
          <a:p>
            <a:pPr marL="152400" indent="-152400">
              <a:spcAft>
                <a:spcPts val="800"/>
              </a:spcAft>
              <a:buSzPct val="100000"/>
              <a:buChar char="•"/>
            </a:pPr>
            <a:r>
              <a:rPr lang="en-US" sz="1100" dirty="0">
                <a:solidFill>
                  <a:srgbClr val="1D2247"/>
                </a:solidFill>
                <a:latin typeface="Calibri" pitchFamily="34" charset="0"/>
                <a:ea typeface="Calibri" pitchFamily="34" charset="-122"/>
                <a:cs typeface="Calibri" pitchFamily="34" charset="-120"/>
              </a:rPr>
              <a:t>Nearest existing apps found: StressFace, Welltory, Whoop and Oura tags</a:t>
            </a:r>
            <a:endParaRPr lang="en-US" sz="1100" dirty="0"/>
          </a:p>
        </p:txBody>
      </p:sp>
      <p:sp>
        <p:nvSpPr>
          <p:cNvPr id="8" name="Shape 5"/>
          <p:cNvSpPr/>
          <p:nvPr/>
        </p:nvSpPr>
        <p:spPr>
          <a:xfrm>
            <a:off x="3429000" y="1280160"/>
            <a:ext cx="2286000" cy="3337560"/>
          </a:xfrm>
          <a:prstGeom prst="roundRect">
            <a:avLst>
              <a:gd name="adj" fmla="val 4000"/>
            </a:avLst>
          </a:prstGeom>
          <a:solidFill>
            <a:srgbClr val="F1F2FA"/>
          </a:solidFill>
          <a:ln w="12700">
            <a:solidFill>
              <a:srgbClr val="F1F2FA"/>
            </a:solidFill>
            <a:prstDash val="solid"/>
          </a:ln>
        </p:spPr>
        <p:txBody>
          <a:bodyPr/>
          <a:lstStyle/>
          <a:p>
            <a:endParaRPr lang="sv-SE"/>
          </a:p>
        </p:txBody>
      </p:sp>
      <p:sp>
        <p:nvSpPr>
          <p:cNvPr id="9" name="Shape 6"/>
          <p:cNvSpPr/>
          <p:nvPr/>
        </p:nvSpPr>
        <p:spPr>
          <a:xfrm>
            <a:off x="3611880" y="1463040"/>
            <a:ext cx="411480" cy="411480"/>
          </a:xfrm>
          <a:prstGeom prst="ellipse">
            <a:avLst/>
          </a:prstGeom>
          <a:solidFill>
            <a:srgbClr val="FF6B5B"/>
          </a:solidFill>
          <a:ln w="12700">
            <a:solidFill>
              <a:srgbClr val="FF6B5B"/>
            </a:solidFill>
            <a:prstDash val="solid"/>
          </a:ln>
        </p:spPr>
        <p:txBody>
          <a:bodyPr/>
          <a:lstStyle/>
          <a:p>
            <a:endParaRPr lang="sv-SE"/>
          </a:p>
        </p:txBody>
      </p:sp>
      <p:pic>
        <p:nvPicPr>
          <p:cNvPr id="10" name="Image 1" descr="preencoded.png"/>
          <p:cNvPicPr>
            <a:picLocks noChangeAspect="1"/>
          </p:cNvPicPr>
          <p:nvPr/>
        </p:nvPicPr>
        <p:blipFill>
          <a:blip r:embed="rId4"/>
          <a:stretch>
            <a:fillRect/>
          </a:stretch>
        </p:blipFill>
        <p:spPr>
          <a:xfrm>
            <a:off x="3710635" y="1561795"/>
            <a:ext cx="213970" cy="213970"/>
          </a:xfrm>
          <a:prstGeom prst="rect">
            <a:avLst/>
          </a:prstGeom>
        </p:spPr>
      </p:pic>
      <p:sp>
        <p:nvSpPr>
          <p:cNvPr id="11" name="Text 7"/>
          <p:cNvSpPr txBox="1"/>
          <p:nvPr/>
        </p:nvSpPr>
        <p:spPr>
          <a:xfrm>
            <a:off x="4114800" y="1463040"/>
            <a:ext cx="1554480" cy="411480"/>
          </a:xfrm>
          <a:prstGeom prst="rect">
            <a:avLst/>
          </a:prstGeom>
          <a:noFill/>
          <a:ln/>
        </p:spPr>
        <p:txBody>
          <a:bodyPr wrap="square" lIns="0" tIns="0" rIns="0" bIns="0" rtlCol="0" anchor="ctr"/>
          <a:lstStyle/>
          <a:p>
            <a:pPr marL="0" indent="0">
              <a:buNone/>
            </a:pPr>
            <a:r>
              <a:rPr lang="en-US" sz="1350" b="1" dirty="0">
                <a:solidFill>
                  <a:srgbClr val="1D2247"/>
                </a:solidFill>
                <a:latin typeface="Calibri" pitchFamily="34" charset="0"/>
                <a:ea typeface="Calibri" pitchFamily="34" charset="-122"/>
                <a:cs typeface="Calibri" pitchFamily="34" charset="-120"/>
              </a:rPr>
              <a:t>Next four weeks</a:t>
            </a:r>
            <a:endParaRPr lang="en-US" sz="1350" dirty="0"/>
          </a:p>
        </p:txBody>
      </p:sp>
      <p:sp>
        <p:nvSpPr>
          <p:cNvPr id="12" name="Text 8"/>
          <p:cNvSpPr txBox="1"/>
          <p:nvPr/>
        </p:nvSpPr>
        <p:spPr>
          <a:xfrm>
            <a:off x="3611880" y="2011680"/>
            <a:ext cx="1965960" cy="2514600"/>
          </a:xfrm>
          <a:prstGeom prst="rect">
            <a:avLst/>
          </a:prstGeom>
          <a:noFill/>
          <a:ln/>
        </p:spPr>
        <p:txBody>
          <a:bodyPr wrap="square" lIns="0" tIns="0" rIns="0" bIns="0" rtlCol="0" anchor="t"/>
          <a:lstStyle/>
          <a:p>
            <a:pPr marL="152400" indent="-152400">
              <a:spcAft>
                <a:spcPts val="800"/>
              </a:spcAft>
              <a:buSzPct val="100000"/>
              <a:buChar char="•"/>
            </a:pPr>
            <a:r>
              <a:rPr lang="en-US" sz="1100" dirty="0">
                <a:solidFill>
                  <a:srgbClr val="1D2247"/>
                </a:solidFill>
                <a:latin typeface="Calibri" pitchFamily="34" charset="0"/>
                <a:ea typeface="Calibri" pitchFamily="34" charset="-122"/>
                <a:cs typeface="Calibri" pitchFamily="34" charset="-120"/>
              </a:rPr>
              <a:t>Collect our own data: watch plus calendar, one person each</a:t>
            </a:r>
            <a:endParaRPr lang="en-US" sz="1100" dirty="0"/>
          </a:p>
          <a:p>
            <a:pPr marL="152400" indent="-152400">
              <a:spcAft>
                <a:spcPts val="800"/>
              </a:spcAft>
              <a:buSzPct val="100000"/>
              <a:buChar char="•"/>
            </a:pPr>
            <a:r>
              <a:rPr lang="en-US" sz="1100" dirty="0">
                <a:solidFill>
                  <a:srgbClr val="1D2247"/>
                </a:solidFill>
                <a:latin typeface="Calibri" pitchFamily="34" charset="0"/>
                <a:ea typeface="Calibri" pitchFamily="34" charset="-122"/>
                <a:cs typeface="Calibri" pitchFamily="34" charset="-120"/>
              </a:rPr>
              <a:t>Interview wearables users about what they would want explained</a:t>
            </a:r>
            <a:endParaRPr lang="en-US" sz="1100" dirty="0"/>
          </a:p>
          <a:p>
            <a:pPr marL="152400" indent="-152400">
              <a:spcAft>
                <a:spcPts val="800"/>
              </a:spcAft>
              <a:buSzPct val="100000"/>
              <a:buChar char="•"/>
            </a:pPr>
            <a:r>
              <a:rPr lang="en-US" sz="1100" dirty="0">
                <a:solidFill>
                  <a:srgbClr val="1D2247"/>
                </a:solidFill>
                <a:latin typeface="Calibri" pitchFamily="34" charset="0"/>
                <a:ea typeface="Calibri" pitchFamily="34" charset="-122"/>
                <a:cs typeface="Calibri" pitchFamily="34" charset="-120"/>
              </a:rPr>
              <a:t>Decide the calendar route and sketch the morning report</a:t>
            </a:r>
            <a:endParaRPr lang="en-US" sz="1100" dirty="0"/>
          </a:p>
          <a:p>
            <a:pPr marL="152400" indent="-152400">
              <a:spcAft>
                <a:spcPts val="800"/>
              </a:spcAft>
              <a:buSzPct val="100000"/>
              <a:buChar char="•"/>
            </a:pPr>
            <a:r>
              <a:rPr lang="en-US" sz="1100" dirty="0">
                <a:solidFill>
                  <a:srgbClr val="1D2247"/>
                </a:solidFill>
                <a:latin typeface="Calibri" pitchFamily="34" charset="0"/>
                <a:ea typeface="Calibri" pitchFamily="34" charset="-122"/>
                <a:cs typeface="Calibri" pitchFamily="34" charset="-120"/>
              </a:rPr>
              <a:t>First script that matches events to overnight biometrics</a:t>
            </a:r>
            <a:endParaRPr lang="en-US" sz="1100" dirty="0"/>
          </a:p>
        </p:txBody>
      </p:sp>
      <p:sp>
        <p:nvSpPr>
          <p:cNvPr id="13" name="Shape 9"/>
          <p:cNvSpPr/>
          <p:nvPr/>
        </p:nvSpPr>
        <p:spPr>
          <a:xfrm>
            <a:off x="6400800" y="1280160"/>
            <a:ext cx="2286000" cy="3337560"/>
          </a:xfrm>
          <a:prstGeom prst="roundRect">
            <a:avLst>
              <a:gd name="adj" fmla="val 4000"/>
            </a:avLst>
          </a:prstGeom>
          <a:solidFill>
            <a:srgbClr val="F1F2FA"/>
          </a:solidFill>
          <a:ln w="12700">
            <a:solidFill>
              <a:srgbClr val="F1F2FA"/>
            </a:solidFill>
            <a:prstDash val="solid"/>
          </a:ln>
        </p:spPr>
        <p:txBody>
          <a:bodyPr/>
          <a:lstStyle/>
          <a:p>
            <a:endParaRPr lang="sv-SE"/>
          </a:p>
        </p:txBody>
      </p:sp>
      <p:sp>
        <p:nvSpPr>
          <p:cNvPr id="14" name="Shape 10"/>
          <p:cNvSpPr/>
          <p:nvPr/>
        </p:nvSpPr>
        <p:spPr>
          <a:xfrm>
            <a:off x="6583680" y="1463040"/>
            <a:ext cx="411480" cy="411480"/>
          </a:xfrm>
          <a:prstGeom prst="ellipse">
            <a:avLst/>
          </a:prstGeom>
          <a:solidFill>
            <a:srgbClr val="6E7291"/>
          </a:solidFill>
          <a:ln w="12700">
            <a:solidFill>
              <a:srgbClr val="6E7291"/>
            </a:solidFill>
            <a:prstDash val="solid"/>
          </a:ln>
        </p:spPr>
        <p:txBody>
          <a:bodyPr/>
          <a:lstStyle/>
          <a:p>
            <a:endParaRPr lang="sv-SE"/>
          </a:p>
        </p:txBody>
      </p:sp>
      <p:pic>
        <p:nvPicPr>
          <p:cNvPr id="15" name="Image 2" descr="preencoded.png"/>
          <p:cNvPicPr>
            <a:picLocks noChangeAspect="1"/>
          </p:cNvPicPr>
          <p:nvPr/>
        </p:nvPicPr>
        <p:blipFill>
          <a:blip r:embed="rId5"/>
          <a:stretch>
            <a:fillRect/>
          </a:stretch>
        </p:blipFill>
        <p:spPr>
          <a:xfrm>
            <a:off x="6682435" y="1561795"/>
            <a:ext cx="213970" cy="213970"/>
          </a:xfrm>
          <a:prstGeom prst="rect">
            <a:avLst/>
          </a:prstGeom>
        </p:spPr>
      </p:pic>
      <p:sp>
        <p:nvSpPr>
          <p:cNvPr id="16" name="Text 11"/>
          <p:cNvSpPr txBox="1"/>
          <p:nvPr/>
        </p:nvSpPr>
        <p:spPr>
          <a:xfrm>
            <a:off x="7086600" y="1463040"/>
            <a:ext cx="1554480" cy="411480"/>
          </a:xfrm>
          <a:prstGeom prst="rect">
            <a:avLst/>
          </a:prstGeom>
          <a:noFill/>
          <a:ln/>
        </p:spPr>
        <p:txBody>
          <a:bodyPr wrap="square" lIns="0" tIns="0" rIns="0" bIns="0" rtlCol="0" anchor="ctr"/>
          <a:lstStyle/>
          <a:p>
            <a:pPr marL="0" indent="0">
              <a:buNone/>
            </a:pPr>
            <a:r>
              <a:rPr lang="en-US" sz="1350" b="1" dirty="0">
                <a:solidFill>
                  <a:srgbClr val="1D2247"/>
                </a:solidFill>
                <a:latin typeface="Calibri" pitchFamily="34" charset="0"/>
                <a:ea typeface="Calibri" pitchFamily="34" charset="-122"/>
                <a:cs typeface="Calibri" pitchFamily="34" charset="-120"/>
              </a:rPr>
              <a:t>Open challenges</a:t>
            </a:r>
            <a:endParaRPr lang="en-US" sz="1350" dirty="0"/>
          </a:p>
        </p:txBody>
      </p:sp>
      <p:sp>
        <p:nvSpPr>
          <p:cNvPr id="17" name="Text 12"/>
          <p:cNvSpPr txBox="1"/>
          <p:nvPr/>
        </p:nvSpPr>
        <p:spPr>
          <a:xfrm>
            <a:off x="6583680" y="2011680"/>
            <a:ext cx="1965960" cy="2514600"/>
          </a:xfrm>
          <a:prstGeom prst="rect">
            <a:avLst/>
          </a:prstGeom>
          <a:noFill/>
          <a:ln/>
        </p:spPr>
        <p:txBody>
          <a:bodyPr wrap="square" lIns="0" tIns="0" rIns="0" bIns="0" rtlCol="0" anchor="t"/>
          <a:lstStyle/>
          <a:p>
            <a:pPr marL="152400" indent="-152400">
              <a:spcAft>
                <a:spcPts val="800"/>
              </a:spcAft>
              <a:buSzPct val="100000"/>
              <a:buChar char="•"/>
            </a:pPr>
            <a:r>
              <a:rPr lang="en-US" sz="1100" dirty="0">
                <a:solidFill>
                  <a:srgbClr val="1D2247"/>
                </a:solidFill>
                <a:latin typeface="Calibri" pitchFamily="34" charset="0"/>
                <a:ea typeface="Calibri" pitchFamily="34" charset="-122"/>
                <a:cs typeface="Calibri" pitchFamily="34" charset="-120"/>
              </a:rPr>
              <a:t>Correlation is not causation, especially with one person's data</a:t>
            </a:r>
            <a:endParaRPr lang="en-US" sz="1100" dirty="0"/>
          </a:p>
          <a:p>
            <a:pPr marL="152400" indent="-152400">
              <a:spcAft>
                <a:spcPts val="800"/>
              </a:spcAft>
              <a:buSzPct val="100000"/>
              <a:buChar char="•"/>
            </a:pPr>
            <a:r>
              <a:rPr lang="en-US" sz="1100" dirty="0">
                <a:solidFill>
                  <a:srgbClr val="1D2247"/>
                </a:solidFill>
                <a:latin typeface="Calibri" pitchFamily="34" charset="0"/>
                <a:ea typeface="Calibri" pitchFamily="34" charset="-122"/>
                <a:cs typeface="Calibri" pitchFamily="34" charset="-120"/>
              </a:rPr>
              <a:t>The calendar misses coffee, alcohol, screens and unbooked stress</a:t>
            </a:r>
            <a:endParaRPr lang="en-US" sz="1100" dirty="0"/>
          </a:p>
          <a:p>
            <a:pPr marL="152400" indent="-152400">
              <a:spcAft>
                <a:spcPts val="800"/>
              </a:spcAft>
              <a:buSzPct val="100000"/>
              <a:buChar char="•"/>
            </a:pPr>
            <a:r>
              <a:rPr lang="en-US" sz="1100" dirty="0">
                <a:solidFill>
                  <a:srgbClr val="1D2247"/>
                </a:solidFill>
                <a:latin typeface="Calibri" pitchFamily="34" charset="0"/>
                <a:ea typeface="Calibri" pitchFamily="34" charset="-122"/>
                <a:cs typeface="Calibri" pitchFamily="34" charset="-120"/>
              </a:rPr>
              <a:t>Cold start: value shows up only after weeks of data</a:t>
            </a:r>
            <a:endParaRPr lang="en-US" sz="1100" dirty="0"/>
          </a:p>
          <a:p>
            <a:pPr marL="152400" indent="-152400">
              <a:spcAft>
                <a:spcPts val="800"/>
              </a:spcAft>
              <a:buSzPct val="100000"/>
              <a:buChar char="•"/>
            </a:pPr>
            <a:r>
              <a:rPr lang="en-US" sz="1100" dirty="0">
                <a:solidFill>
                  <a:srgbClr val="1D2247"/>
                </a:solidFill>
                <a:latin typeface="Calibri" pitchFamily="34" charset="0"/>
                <a:ea typeface="Calibri" pitchFamily="34" charset="-122"/>
                <a:cs typeface="Calibri" pitchFamily="34" charset="-120"/>
              </a:rPr>
              <a:t>Health plus calendar data is a sensitive combination</a:t>
            </a:r>
            <a:endParaRPr lang="en-US" sz="1100" dirty="0"/>
          </a:p>
          <a:p>
            <a:pPr marL="152400" indent="-152400">
              <a:spcAft>
                <a:spcPts val="800"/>
              </a:spcAft>
              <a:buSzPct val="100000"/>
              <a:buChar char="•"/>
            </a:pPr>
            <a:r>
              <a:rPr lang="en-US" sz="1100" dirty="0">
                <a:solidFill>
                  <a:srgbClr val="1D2247"/>
                </a:solidFill>
                <a:latin typeface="Calibri" pitchFamily="34" charset="0"/>
                <a:ea typeface="Calibri" pitchFamily="34" charset="-122"/>
                <a:cs typeface="Calibri" pitchFamily="34" charset="-120"/>
              </a:rPr>
              <a:t>The watch must be worn as much as possible, limits charging possibilities.</a:t>
            </a:r>
            <a:endParaRPr lang="en-US" sz="1100" dirty="0"/>
          </a:p>
        </p:txBody>
      </p:sp>
      <p:sp>
        <p:nvSpPr>
          <p:cNvPr id="19" name="Text 14"/>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6E7291"/>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6C1E1B8-F36E-DA4C-AEE0-1A679D9039CE}">
  <we:reference id="WA200010725" version="1.0.0.1" store="Omex" storeType="OMEX"/>
  <we:alternateReferences>
    <we:reference id="WA200010725" version="1.0.0.1" store="WA200010725" storeType="OMEX"/>
  </we:alternateReferences>
  <we:properties>
    <we:property name="claude.fileId" value="&quot;92c5d57d-056a-47d7-afc3-c15a27a585f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101</TotalTime>
  <Words>1202</Words>
  <Application>Microsoft Macintosh PowerPoint</Application>
  <PresentationFormat>Bildspel på skärmen (16:9)</PresentationFormat>
  <Paragraphs>117</Paragraphs>
  <Slides>6</Slides>
  <Notes>6</Notes>
  <HiddenSlides>0</HiddenSlides>
  <MMClips>0</MMClips>
  <ScaleCrop>false</ScaleCrop>
  <HeadingPairs>
    <vt:vector size="6" baseType="variant">
      <vt:variant>
        <vt:lpstr>Använt teckensnitt</vt:lpstr>
      </vt:variant>
      <vt:variant>
        <vt:i4>2</vt:i4>
      </vt:variant>
      <vt:variant>
        <vt:lpstr>Tema</vt:lpstr>
      </vt:variant>
      <vt:variant>
        <vt:i4>1</vt:i4>
      </vt:variant>
      <vt:variant>
        <vt:lpstr>Bildrubriker</vt:lpstr>
      </vt:variant>
      <vt:variant>
        <vt:i4>6</vt:i4>
      </vt:variant>
    </vt:vector>
  </HeadingPairs>
  <TitlesOfParts>
    <vt:vector size="9" baseType="lpstr">
      <vt:lpstr>Arial</vt:lpstr>
      <vt:lpstr>Calibri</vt:lpstr>
      <vt:lpstr>Office Theme</vt:lpstr>
      <vt:lpstr>PowerPoint-presentation</vt:lpstr>
      <vt:lpstr>PowerPoint-presentation</vt:lpstr>
      <vt:lpstr>PowerPoint-presentation</vt:lpstr>
      <vt:lpstr>PowerPoint-presentation</vt:lpstr>
      <vt:lpstr>PowerPoint-presentation</vt:lpstr>
      <vt:lpstr>PowerPoint-presentation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Rytm, first-round pitch</dc:title>
  <dc:subject>PptxGenJS Presentation</dc:subject>
  <dc:creator>Nima Tehranchi</dc:creator>
  <cp:lastModifiedBy>Nima Tehranchi</cp:lastModifiedBy>
  <cp:revision>3</cp:revision>
  <dcterms:created xsi:type="dcterms:W3CDTF">2026-09-17T15:19:28Z</dcterms:created>
  <dcterms:modified xsi:type="dcterms:W3CDTF">2026-09-17T17:01:40Z</dcterms:modified>
</cp:coreProperties>
</file>